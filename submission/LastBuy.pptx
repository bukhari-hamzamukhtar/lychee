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e27f860-893d-7cb1-8acb-8274060850b0}">
          <p14:sldIdLst>
            <p14:sldId id="256"/>
          </p14:sldIdLst>
        </p14:section>
        <p14:section name="Problem" id="{5c11416c-498a-74fc-eb36-bc634f3f07b7}">
          <p14:sldIdLst>
            <p14:sldId id="257"/>
          </p14:sldIdLst>
        </p14:section>
        <p14:section name="Finding" id="{584f48f9-f878-7194-91f4-872104e5dc80}">
          <p14:sldIdLst>
            <p14:sldId id="258"/>
          </p14:sldIdLst>
        </p14:section>
        <p14:section name="How" id="{efe63d32-6818-975a-aa75-cde603a7a5a5}">
          <p14:sldIdLst>
            <p14:sldId id="259"/>
            <p14:sldId id="260"/>
          </p14:sldIdLst>
        </p14:section>
        <p14:section name="Agent" id="{6071a016-abfb-28f9-9f02-61e97dfeef0c}">
          <p14:sldIdLst>
            <p14:sldId id="261"/>
          </p14:sldIdLst>
        </p14:section>
        <p14:section name="Product" id="{36306b4a-448f-f6d8-d847-be1c96ef6b14}">
          <p14:sldIdLst>
            <p14:sldId id="262"/>
            <p14:sldId id="263"/>
            <p14:sldId id="264"/>
          </p14:sldIdLst>
        </p14:section>
        <p14:section name="Case" id="{bad029f7-ed07-d60e-81a4-3ada961b5f9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 obsolescence. Say the problem, not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German sit on screen. The language barrier is the real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pitch. Pause on 4.7 against 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stages, about 9 Evolus credits and $0.00012 of AMD inference per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originality argument. Everyone else built RAG over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cut this from the video. It is the trust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paths are the point. Any number on this screen can be checked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 and both drafts run concurrently, so wall clock is under the 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dashboard and a product you can put work into.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number. No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8869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LastBuy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88696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 supplier gives you 34 days. After that, the part can never be bought again.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AMD Developer Hackathon: ACT III   ·   Intelligent Industry   ·   Evolus Business Agents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factory gets these, and nobody can read them</a:t>
            </a:r>
            <a:endParaRPr lang="en-US" sz="3600" dirty="0"/>
          </a:p>
        </p:txBody>
      </p:sp>
      <p:sp>
        <p:nvSpPr>
          <p:cNvPr id="3" name="notice"/>
          <p:cNvSpPr/>
          <p:nvPr/>
        </p:nvSpPr>
        <p:spPr>
          <a:xfrm>
            <a:off x="64008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PRODUKT-ABKUENDIGUNG (PDN 26_4471)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 informieren Sie, dass das Bauteil ADUM1201ARZ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(Dual-Channel Digital-Isolator) abgekuendigt wird.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Letzter Bestelltermin (Last Time Buy):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 November 2026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Ein direkter Ersatz ist derzeit nicht verfuegbar.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00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Then someone works out, by hand: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05740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finished products contain it, at every BOM level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go into each one, by every route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customers hold supply contracts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Whether a certification names it as critical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weeks of stock are left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to buy before the door closes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366F1"/>
                </a:solidFill>
              </a:rPr>
              <a:t>Days of work, across several people, in spreadsheets.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nobody knew</a:t>
            </a:r>
            <a:endParaRPr lang="en-US" sz="3600" dirty="0"/>
          </a:p>
        </p:txBody>
      </p:sp>
      <p:sp>
        <p:nvSpPr>
          <p:cNvPr id="3" name="stat-Last buy in"/>
          <p:cNvSpPr/>
          <p:nvPr/>
        </p:nvSpPr>
        <p:spPr>
          <a:xfrm>
            <a:off x="6400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LAST BUY 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E8F0"/>
                </a:solidFill>
              </a:rPr>
              <a:t>34 days</a:t>
            </a:r>
            <a:endParaRPr lang="en-US" sz="3400" dirty="0"/>
          </a:p>
        </p:txBody>
      </p:sp>
      <p:sp>
        <p:nvSpPr>
          <p:cNvPr id="6" name="stat-Stock runway"/>
          <p:cNvSpPr/>
          <p:nvPr/>
        </p:nvSpPr>
        <p:spPr>
          <a:xfrm>
            <a:off x="33832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STOCK RUNWAY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4444"/>
                </a:solidFill>
              </a:rPr>
              <a:t>4.7 wk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752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lead time 26 wk</a:t>
            </a:r>
            <a:endParaRPr lang="en-US" sz="1200" dirty="0"/>
          </a:p>
        </p:txBody>
      </p:sp>
      <p:sp>
        <p:nvSpPr>
          <p:cNvPr id="10" name="stat-Must buy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MUST BUY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E8F0"/>
                </a:solidFill>
              </a:rPr>
              <a:t>504,798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752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EUR 1,433,626</a:t>
            </a:r>
            <a:endParaRPr lang="en-US" sz="1200" dirty="0"/>
          </a:p>
        </p:txBody>
      </p:sp>
      <p:sp>
        <p:nvSpPr>
          <p:cNvPr id="14" name="stat-Revenue at risk"/>
          <p:cNvSpPr/>
          <p:nvPr/>
        </p:nvSpPr>
        <p:spPr>
          <a:xfrm>
            <a:off x="8869680" y="16002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98280" y="1764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REVENUE AT RISK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0756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2E8F0"/>
                </a:solidFill>
              </a:rPr>
              <a:t>EUR 9.06M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2752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per year</a:t>
            </a:r>
            <a:endParaRPr lang="en-US" sz="1200" dirty="0"/>
          </a:p>
        </p:txBody>
      </p:sp>
      <p:sp>
        <p:nvSpPr>
          <p:cNvPr id="18" name="finding"/>
          <p:cNvSpPr/>
          <p:nvPr/>
        </p:nvSpPr>
        <p:spPr>
          <a:xfrm>
            <a:off x="640080" y="3566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F4444"/>
                </a:solidFill>
              </a:rPr>
              <a:t>They were already 21 weeks short — and nothing in their process would have said so.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4A3B8"/>
                </a:solidFill>
              </a:rPr>
              <a:t>Four point seven weeks of cover against a twenty-six week lead time. That is true today, independently of the deadline in the letter.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ADUM1201ARZ · dual-channel digital isolator · reaches 5 products through 3 assemblies by 7 distinct BOM paths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Twenty seconds, end to end</a:t>
            </a:r>
            <a:endParaRPr lang="en-US" sz="3600" dirty="0"/>
          </a:p>
        </p:txBody>
      </p:sp>
      <p:sp>
        <p:nvSpPr>
          <p:cNvPr id="3" name="step-0"/>
          <p:cNvSpPr/>
          <p:nvPr/>
        </p:nvSpPr>
        <p:spPr>
          <a:xfrm>
            <a:off x="64008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translate + doc-structure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the notice, in any language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88036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F1"/>
                </a:solidFill>
              </a:rPr>
              <a:t>ENGINE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propagate through the BOM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exact arithmetic, no model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512064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F4444"/>
                </a:solidFill>
              </a:rPr>
              <a:t>AMD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write the impact memo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open model on AMD GPUs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736092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4380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agent rules on certification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cites the clause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960120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draft order + customer notice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nothing is sent</a:t>
            </a:r>
            <a:endParaRPr lang="en-US" sz="1100" dirty="0"/>
          </a:p>
        </p:txBody>
      </p:sp>
      <p:sp>
        <p:nvSpPr>
          <p:cNvPr id="23" name="gate"/>
          <p:cNvSpPr/>
          <p:nvPr/>
        </p:nvSpPr>
        <p:spPr>
          <a:xfrm>
            <a:off x="640080" y="44348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0060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</a:rPr>
              <a:t>Then it stops.  </a:t>
            </a:r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</a:rPr>
              <a:t>A person commits the spend. The agent prepares the decision; it does not take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engine has no language model in it</a:t>
            </a:r>
            <a:endParaRPr lang="en-US" sz="3600" dirty="0"/>
          </a:p>
        </p:txBody>
      </p:sp>
      <p:sp>
        <p:nvSpPr>
          <p:cNvPr id="3" name="paths"/>
          <p:cNvSpPr/>
          <p:nvPr/>
        </p:nvSpPr>
        <p:spPr>
          <a:xfrm>
            <a:off x="640080" y="1554480"/>
            <a:ext cx="5852160" cy="2834640"/>
          </a:xfrm>
          <a:prstGeom prst="roundRect">
            <a:avLst>
              <a:gd name="adj" fmla="val 258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ADUM1201ARZ reaches MD-7500 twice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402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ADUM1201ARZ  -&gt;  ASM-GATE-D  -&gt;  ASM-PWR-A  -&gt;  MD-7500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ADUM1201ARZ  -&gt;  ASM-CTRL-B  -&gt;  MD-7500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2 isolators per gate module x 3 modules per power board x 2 boards, plus 1 on the control board = 13 per unit.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12280" y="1691640"/>
            <a:ext cx="4709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bill of materials is a directed graph. Propagation is exact arithmetic.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Quantity sums over every route — a part can reach one product twice.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a language model to do this and it invents quantities.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path is printed, so any number can be checked by hand in seconds.</a:t>
            </a:r>
            <a:endParaRPr lang="en-US" sz="1500" dirty="0"/>
          </a:p>
        </p:txBody>
      </p:sp>
      <p:sp>
        <p:nvSpPr>
          <p:cNvPr id="8" name="split"/>
          <p:cNvSpPr/>
          <p:nvPr/>
        </p:nvSpPr>
        <p:spPr>
          <a:xfrm>
            <a:off x="640080" y="46177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366F1"/>
                </a:solidFill>
              </a:rPr>
              <a:t>The graph decides what is affected. The model reads, rules and writes. It is never asked for a number.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agent that knows what it does not know</a:t>
            </a:r>
            <a:endParaRPr lang="en-US" sz="3600" dirty="0"/>
          </a:p>
        </p:txBody>
      </p:sp>
      <p:sp>
        <p:nvSpPr>
          <p:cNvPr id="3" name="cites"/>
          <p:cNvSpPr/>
          <p:nvPr/>
        </p:nvSpPr>
        <p:spPr>
          <a:xfrm>
            <a:off x="64008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</a:rPr>
              <a:t>It cites the clause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“Substitution re-opens EN 61800-3 under clause 6.3.2 and UL 61800-5-1 under clause 4.4. Clause 6.4.1 requires re-tested radiated and conducted emissions per affected product.”</a:t>
            </a:r>
            <a:endParaRPr lang="en-US" sz="1300" dirty="0"/>
          </a:p>
        </p:txBody>
      </p:sp>
      <p:sp>
        <p:nvSpPr>
          <p:cNvPr id="6" name="refuses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And it refuses what it cannot ground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10312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“The documents contain no thermal derating curve for this part. You need the manufacturer datasheet, or review by a qualified engineer.”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65760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Runs on the AMD Token Factory endpoint connected to the Evolus workspace — not a model the platform chose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only from the company's own approval records and obsolescence procedure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Instructed that it may not introduce a part number, date, quantity or cost of its own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366F1"/>
                </a:solidFill>
              </a:rPr>
              <a:t>That refusal is the feature. It is what you need before anything goes near a EUR 1.4M purchase order.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figure traceable, on one screen</a:t>
            </a:r>
            <a:endParaRPr lang="en-US" sz="3600" dirty="0"/>
          </a:p>
        </p:txBody>
      </p:sp>
      <p:pic>
        <p:nvPicPr>
          <p:cNvPr id="3" name="impact-screenshot" descr="G:\amd-hackathon\lastbuy\submission\screenshots\02-imp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4270248"/>
          </a:xfrm>
          <a:prstGeom prst="rect">
            <a:avLst/>
          </a:prstGeom>
        </p:spPr>
      </p:pic>
      <p:sp>
        <p:nvSpPr>
          <p:cNvPr id="4" name="note-0"/>
          <p:cNvSpPr/>
          <p:nvPr/>
        </p:nvSpPr>
        <p:spPr>
          <a:xfrm>
            <a:off x="7635240" y="1645920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82880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Four numbers, not a dashboard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1579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Days remaining, stock runway, quantity to buy, revenue exposed.</a:t>
            </a:r>
            <a:endParaRPr lang="en-US" sz="1200" dirty="0"/>
          </a:p>
        </p:txBody>
      </p:sp>
      <p:sp>
        <p:nvSpPr>
          <p:cNvPr id="7" name="note-1"/>
          <p:cNvSpPr/>
          <p:nvPr/>
        </p:nvSpPr>
        <p:spPr>
          <a:xfrm>
            <a:off x="7635240" y="3090672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327355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The path under every product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60273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ADUM1201ARZ to ASM-GATE-D to ASM-PWR-A to MD-7500. Check the 13 by hand.</a:t>
            </a:r>
            <a:endParaRPr lang="en-US" sz="1200" dirty="0"/>
          </a:p>
        </p:txBody>
      </p:sp>
      <p:sp>
        <p:nvSpPr>
          <p:cNvPr id="10" name="note-2"/>
          <p:cNvSpPr/>
          <p:nvPr/>
        </p:nvSpPr>
        <p:spPr>
          <a:xfrm>
            <a:off x="7635240" y="4535424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0" y="47183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Risk before any notice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4748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Parts scored from graph position and supplier history, left column.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each stage cost, on every run</a:t>
            </a:r>
            <a:endParaRPr lang="en-US" sz="3600" dirty="0"/>
          </a:p>
        </p:txBody>
      </p:sp>
      <p:sp>
        <p:nvSpPr>
          <p:cNvPr id="3" name="row-0"/>
          <p:cNvSpPr/>
          <p:nvPr/>
        </p:nvSpPr>
        <p:spPr>
          <a:xfrm>
            <a:off x="640080" y="1600200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719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translate notice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17282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4.3 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7282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2.06 credits</a:t>
            </a:r>
            <a:endParaRPr lang="en-US" sz="1300" dirty="0"/>
          </a:p>
        </p:txBody>
      </p:sp>
      <p:sp>
        <p:nvSpPr>
          <p:cNvPr id="8" name="row-1"/>
          <p:cNvSpPr/>
          <p:nvPr/>
        </p:nvSpPr>
        <p:spPr>
          <a:xfrm>
            <a:off x="640080" y="2185416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32257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304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 fields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313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4.3 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0" y="23134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2.79 credits</a:t>
            </a:r>
            <a:endParaRPr lang="en-US" sz="1300" dirty="0"/>
          </a:p>
        </p:txBody>
      </p:sp>
      <p:sp>
        <p:nvSpPr>
          <p:cNvPr id="13" name="row-2"/>
          <p:cNvSpPr/>
          <p:nvPr/>
        </p:nvSpPr>
        <p:spPr>
          <a:xfrm>
            <a:off x="640080" y="2770632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4748B"/>
                </a:solidFill>
              </a:rPr>
              <a:t>ENGINE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28895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propagate through BOM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898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0.0 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8986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free, local</a:t>
            </a:r>
            <a:endParaRPr lang="en-US" sz="1300" dirty="0"/>
          </a:p>
        </p:txBody>
      </p:sp>
      <p:sp>
        <p:nvSpPr>
          <p:cNvPr id="18" name="row-3"/>
          <p:cNvSpPr/>
          <p:nvPr/>
        </p:nvSpPr>
        <p:spPr>
          <a:xfrm>
            <a:off x="640080" y="3355848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4930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F1"/>
                </a:solidFill>
              </a:rPr>
              <a:t>AMD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write impact memo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4838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10.5 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0" y="348386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$0.000118</a:t>
            </a:r>
            <a:endParaRPr lang="en-US" sz="1300" dirty="0"/>
          </a:p>
        </p:txBody>
      </p:sp>
      <p:sp>
        <p:nvSpPr>
          <p:cNvPr id="23" name="row-4"/>
          <p:cNvSpPr/>
          <p:nvPr/>
        </p:nvSpPr>
        <p:spPr>
          <a:xfrm>
            <a:off x="640080" y="3941064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40782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 supplier order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0690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3.7 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40690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1.96 credits</a:t>
            </a:r>
            <a:endParaRPr lang="en-US" sz="1300" dirty="0"/>
          </a:p>
        </p:txBody>
      </p:sp>
      <p:sp>
        <p:nvSpPr>
          <p:cNvPr id="28" name="row-5"/>
          <p:cNvSpPr/>
          <p:nvPr/>
        </p:nvSpPr>
        <p:spPr>
          <a:xfrm>
            <a:off x="640080" y="4526280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466344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011680" y="4645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 customer notice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6542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3.0 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0" y="46542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1.84 credits</a:t>
            </a:r>
            <a:endParaRPr lang="en-US" sz="1300" dirty="0"/>
          </a:p>
        </p:txBody>
      </p:sp>
      <p:sp>
        <p:nvSpPr>
          <p:cNvPr id="33" name="row-6"/>
          <p:cNvSpPr/>
          <p:nvPr/>
        </p:nvSpPr>
        <p:spPr>
          <a:xfrm>
            <a:off x="640080" y="5111496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52486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5B4FC"/>
                </a:solidFill>
              </a:rPr>
              <a:t>EVOLUS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011680" y="5230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on certification impact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0" y="5239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10.8 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0" y="52395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agent, on AMD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</a:rPr>
              <a:t>About 20 seconds, 9 Evolus credits and $0.00012.  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A buyer deciding whether to run this on every incoming notice needs that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Drop in a notice you have never seen</a:t>
            </a:r>
            <a:endParaRPr lang="en-US" sz="3600" dirty="0"/>
          </a:p>
        </p:txBody>
      </p:sp>
      <p:pic>
        <p:nvPicPr>
          <p:cNvPr id="3" name="inbox-screenshot" descr="G:\amd-hackathon\lastbuy\submission\screenshots\01-inbo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4270248"/>
          </a:xfrm>
          <a:prstGeom prst="rect">
            <a:avLst/>
          </a:prstGeom>
        </p:spPr>
      </p:pic>
      <p:sp>
        <p:nvSpPr>
          <p:cNvPr id="4" name="up-0"/>
          <p:cNvSpPr/>
          <p:nvPr/>
        </p:nvSpPr>
        <p:spPr>
          <a:xfrm>
            <a:off x="7635240" y="1645920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82880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MinerU, on AMD GPUs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157984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A PDF or a photo of one, in any language. It takes a base64 data URI, so nothing has to be hosted first.</a:t>
            </a:r>
            <a:endParaRPr lang="en-US" sz="1150" dirty="0"/>
          </a:p>
        </p:txBody>
      </p:sp>
      <p:sp>
        <p:nvSpPr>
          <p:cNvPr id="7" name="up-1"/>
          <p:cNvSpPr/>
          <p:nvPr/>
        </p:nvSpPr>
        <p:spPr>
          <a:xfrm>
            <a:off x="7635240" y="3090672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327355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Reconciled, not trusted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602736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Part numbers are matched against the real BOM. A notice naming nothing you build is rejected, not assessed.</a:t>
            </a:r>
            <a:endParaRPr lang="en-US" sz="1150" dirty="0"/>
          </a:p>
        </p:txBody>
      </p:sp>
      <p:sp>
        <p:nvSpPr>
          <p:cNvPr id="10" name="up-2"/>
          <p:cNvSpPr/>
          <p:nvPr/>
        </p:nvSpPr>
        <p:spPr>
          <a:xfrm>
            <a:off x="7635240" y="4535424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0" y="47183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17 seconds, $0.00006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47488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</a:rPr>
              <a:t>Plus about two Evolus credits. Cheap enough to run on every notice that arrives.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People already pay for this, badly</a:t>
            </a:r>
            <a:endParaRPr lang="en-US" sz="3600" dirty="0"/>
          </a:p>
        </p:txBody>
      </p:sp>
      <p:sp>
        <p:nvSpPr>
          <p:cNvPr id="3" name="stat-Per assessment"/>
          <p:cNvSpPr/>
          <p:nvPr/>
        </p:nvSpPr>
        <p:spPr>
          <a:xfrm>
            <a:off x="640080" y="155448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19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PER ASSESSMENT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E8F0"/>
                </a:solidFill>
              </a:rPr>
              <a:t>$0.00012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AMD inference, plus 9 Evolus credits</a:t>
            </a:r>
            <a:endParaRPr lang="en-US" sz="1200" dirty="0"/>
          </a:p>
        </p:txBody>
      </p:sp>
      <p:sp>
        <p:nvSpPr>
          <p:cNvPr id="7" name="stat-Time"/>
          <p:cNvSpPr/>
          <p:nvPr/>
        </p:nvSpPr>
        <p:spPr>
          <a:xfrm>
            <a:off x="4343400" y="155448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19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TIME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2996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E8F0"/>
                </a:solidFill>
              </a:rPr>
              <a:t>Days to 20s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066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three people to none</a:t>
            </a:r>
            <a:endParaRPr lang="en-US" sz="1200" dirty="0"/>
          </a:p>
        </p:txBody>
      </p:sp>
      <p:sp>
        <p:nvSpPr>
          <p:cNvPr id="11" name="stat-On one part"/>
          <p:cNvSpPr/>
          <p:nvPr/>
        </p:nvSpPr>
        <p:spPr>
          <a:xfrm>
            <a:off x="8046720" y="155448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7190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</a:rPr>
              <a:t>ON ONE PART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0299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E8F0"/>
                </a:solidFill>
              </a:rPr>
              <a:t>EUR 9.06M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7066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annual revenue protected</a:t>
            </a:r>
            <a:endParaRPr lang="en-US" sz="1200" dirty="0"/>
          </a:p>
        </p:txBody>
      </p:sp>
      <p:sp>
        <p:nvSpPr>
          <p:cNvPr id="15" name="market"/>
          <p:cNvSpPr/>
          <p:nvPr/>
        </p:nvSpPr>
        <p:spPr>
          <a:xfrm>
            <a:off x="640080" y="34290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The category exists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977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SiliconExpert, Z2Data and IHS sell obsolescence data today, and manufacturers employ obsolescence managers. That is the proof of willingness to pay.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Every one of them is a database you search. This is the first that reads the incoming notice and tells you what breaks.</a:t>
            </a:r>
            <a:endParaRPr lang="en-US" sz="1300" dirty="0"/>
          </a:p>
        </p:txBody>
      </p:sp>
      <p:sp>
        <p:nvSpPr>
          <p:cNvPr id="18" name="stack"/>
          <p:cNvSpPr/>
          <p:nvPr/>
        </p:nvSpPr>
        <p:spPr>
          <a:xfrm>
            <a:off x="6492240" y="342900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</a:rPr>
              <a:t>Built 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977640"/>
            <a:ext cx="4480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AMD Token Factory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— every model call, on AMD GPUs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Evolus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— agent on that same AMD endpoint, plus translate, doc-structure and email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Impact engine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— TypeScript, deterministic, auditable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stBuy">
  <a:themeElements>
    <a:clrScheme name="LastBuy">
      <a:dk1>
        <a:srgbClr val="E2E8F0"/>
      </a:dk1>
      <a:lt1>
        <a:srgbClr val="0B1120"/>
      </a:lt1>
      <a:dk2>
        <a:srgbClr val="94A3B8"/>
      </a:dk2>
      <a:lt2>
        <a:srgbClr val="0F172A"/>
      </a:lt2>
      <a:accent1>
        <a:srgbClr val="6366F1"/>
      </a:accent1>
      <a:accent2>
        <a:srgbClr val="EF4444"/>
      </a:accent2>
      <a:accent3>
        <a:srgbClr val="10B981"/>
      </a:accent3>
      <a:accent4>
        <a:srgbClr val="A5B4FC"/>
      </a:accent4>
      <a:accent5>
        <a:srgbClr val="1E293B"/>
      </a:accent5>
      <a:accent6>
        <a:srgbClr val="64748B"/>
      </a:accent6>
      <a:hlink>
        <a:srgbClr val="6366F1"/>
      </a:hlink>
      <a:folHlink>
        <a:srgbClr val="94A3B8"/>
      </a:folHlink>
    </a:clrScheme>
    <a:fontScheme name="LastBu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LastBuy</dc:title>
  <dc:subject>PptxGenJS Presentation</dc:subject>
  <dc:creator>Hamza Mukhtar Bukhari</dc:creator>
  <cp:lastModifiedBy>Hamza Mukhtar Bukhari</cp:lastModifiedBy>
  <cp:revision>1</cp:revision>
  <dcterms:created xsi:type="dcterms:W3CDTF">2026-10-14T03:55:46Z</dcterms:created>
  <dcterms:modified xsi:type="dcterms:W3CDTF">2026-10-14T03:55:46Z</dcterms:modified>
</cp:coreProperties>
</file>