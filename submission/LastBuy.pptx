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"/>
          <p:cNvSpPr/>
          <p:nvPr/>
        </p:nvSpPr>
        <p:spPr>
          <a:xfrm>
            <a:off x="-2651760" y="-3931920"/>
            <a:ext cx="5577840" cy="5577840"/>
          </a:xfrm>
          <a:prstGeom prst="ellipse">
            <a:avLst/>
          </a:prstGeom>
          <a:solidFill>
            <a:srgbClr val="121419"/>
          </a:solidFill>
          <a:ln w="12700">
            <a:solidFill>
              <a:srgbClr val="1C1F25"/>
            </a:solidFill>
            <a:prstDash val="solid"/>
          </a:ln>
        </p:spPr>
      </p:sp>
      <p:sp>
        <p:nvSpPr>
          <p:cNvPr id="3" name="deco"/>
          <p:cNvSpPr/>
          <p:nvPr/>
        </p:nvSpPr>
        <p:spPr>
          <a:xfrm>
            <a:off x="9326880" y="4297680"/>
            <a:ext cx="4754880" cy="4754880"/>
          </a:xfrm>
          <a:prstGeom prst="ellipse">
            <a:avLst/>
          </a:prstGeom>
          <a:solidFill>
            <a:srgbClr val="121419"/>
          </a:solidFill>
          <a:ln w="12700">
            <a:solidFill>
              <a:srgbClr val="1C1F25"/>
            </a:solidFill>
            <a:prstDash val="solid"/>
          </a:ln>
        </p:spPr>
      </p:sp>
      <p:pic>
        <p:nvPicPr>
          <p:cNvPr id="4" name="Image 0" descr="G:\amd-hackathon\lastbuy\submission\assets\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4784" y="274320"/>
            <a:ext cx="1069848" cy="9784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6002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LastBuy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731520" y="269748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 supplier's discontinuation letter and tells you </a:t>
            </a:r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breaks, and what to buy.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39776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Hamza Bukhari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43159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B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Developer Hackathon: ACT III   ·   Intelligent Industry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50749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31520" y="534924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G:\amd-hackathon\lastbuy\submission\assets\logo-a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21" y="5486400"/>
            <a:ext cx="1141638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591616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MinerU2.5-Pro · Gemma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063240" y="534924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G:\amd-hackathon\lastbuy\submission\assets\logo-gem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0837" y="5486400"/>
            <a:ext cx="853647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063240" y="591616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Gemma-4-31B-IT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394960" y="534924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3" descr="G:\amd-hackathon\lastbuy\submission\assets\logo-evolu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4301" y="5486400"/>
            <a:ext cx="1050158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94960" y="591616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lychee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814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3000" dirty="0"/>
          </a:p>
        </p:txBody>
      </p:sp>
      <p:pic>
        <p:nvPicPr>
          <p:cNvPr id="3" name="Image 0" descr="G:\amd-hackathon\lastbuy\submission\assets\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687" y="420624"/>
            <a:ext cx="566928" cy="516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454335" y="6419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3423818" cy="3154680"/>
          </a:xfrm>
          <a:prstGeom prst="roundRect">
            <a:avLst>
              <a:gd name="adj" fmla="val 3478"/>
            </a:avLst>
          </a:prstGeom>
          <a:solidFill>
            <a:srgbClr val="FCEEEA"/>
          </a:solidFill>
          <a:ln w="15875">
            <a:solidFill>
              <a:srgbClr val="D62D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87552" y="169164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756,087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987552" y="2743200"/>
            <a:ext cx="27288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 components went obsolete in 2022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87552" y="3611880"/>
            <a:ext cx="27288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50 percent more than the year before.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3938" y="1325880"/>
            <a:ext cx="3423818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31410" y="169164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82,000+</a:t>
            </a:r>
            <a:endParaRPr lang="en-US" sz="5000" dirty="0"/>
          </a:p>
        </p:txBody>
      </p:sp>
      <p:sp>
        <p:nvSpPr>
          <p:cNvPr id="12" name="Text 9"/>
          <p:cNvSpPr/>
          <p:nvPr/>
        </p:nvSpPr>
        <p:spPr>
          <a:xfrm>
            <a:off x="4731410" y="2743200"/>
            <a:ext cx="27288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changes in 2023 with no notice sent at all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731410" y="3611880"/>
            <a:ext cx="27288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 four. Nobody wrote to say.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127797" y="1325880"/>
            <a:ext cx="3423818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75269" y="169164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$1.1M</a:t>
            </a:r>
            <a:endParaRPr lang="en-US" sz="5000" dirty="0"/>
          </a:p>
        </p:txBody>
      </p:sp>
      <p:sp>
        <p:nvSpPr>
          <p:cNvPr id="16" name="Text 13"/>
          <p:cNvSpPr/>
          <p:nvPr/>
        </p:nvSpPr>
        <p:spPr>
          <a:xfrm>
            <a:off x="8475269" y="2743200"/>
            <a:ext cx="27288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cost to redesign one assembly once a part is gone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475269" y="3611880"/>
            <a:ext cx="27288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whole system: $10.3 million.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0080" y="475488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FBF6EA"/>
          </a:solidFill>
          <a:ln w="15875">
            <a:solidFill>
              <a:srgbClr val="C9971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7552" y="4754880"/>
            <a:ext cx="102165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of those letters lands on someone who has to work out, by hand, which products it stops. And the date does not move.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080" y="5870448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Z2Data, Obsolescence Trends 2024  ·  Z2Data, 2023 lifecycle analysis  ·  US Department of Commerce (BIS) and DSPO, DMSMS Cost Metrics, 2015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814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Justification</a:t>
            </a:r>
            <a:endParaRPr lang="en-US" sz="3000" dirty="0"/>
          </a:p>
        </p:txBody>
      </p:sp>
      <p:pic>
        <p:nvPicPr>
          <p:cNvPr id="3" name="Image 0" descr="G:\amd-hackathon\lastbuy\submission\assets\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687" y="420624"/>
            <a:ext cx="566928" cy="516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454335" y="6419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FBF6EA"/>
          </a:solidFill>
          <a:ln w="15875">
            <a:solidFill>
              <a:srgbClr val="C9971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87552" y="1280160"/>
            <a:ext cx="102165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</a:t>
            </a:r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supplier's letter gives you a part number and a date. Working out which of your products it stops, and how many to buy before that date, is still done by hand.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377440"/>
            <a:ext cx="5257800" cy="3703320"/>
          </a:xfrm>
          <a:prstGeom prst="roundRect">
            <a:avLst>
              <a:gd name="adj" fmla="val 2963"/>
            </a:avLst>
          </a:prstGeom>
          <a:solidFill>
            <a:srgbClr val="FCEEEA"/>
          </a:solidFill>
          <a:ln w="15875">
            <a:solidFill>
              <a:srgbClr val="D62D1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63347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is a tree, not a list.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7552" y="3182112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Letters come as PDFs and scans, in any language, with no common format.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part can sit under five products, through three assemblies.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order has to be in before the date. After it, the part is never sold again.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tools say a part is at risk. They don't read the letter, and they don't size the order.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9360" y="2395728"/>
            <a:ext cx="5242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09360" y="2834640"/>
            <a:ext cx="5242255" cy="960120"/>
          </a:xfrm>
          <a:prstGeom prst="roundRect">
            <a:avLst>
              <a:gd name="adj" fmla="val 11429"/>
            </a:avLst>
          </a:prstGeom>
          <a:solidFill>
            <a:srgbClr val="FBF6EA"/>
          </a:solidFill>
          <a:ln w="15875">
            <a:solidFill>
              <a:srgbClr val="C997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3081528"/>
            <a:ext cx="457200" cy="457200"/>
          </a:xfrm>
          <a:prstGeom prst="ellipse">
            <a:avLst/>
          </a:prstGeom>
          <a:solidFill>
            <a:srgbClr val="D9A92C"/>
          </a:solidFill>
          <a:ln w="12700">
            <a:solidFill>
              <a:srgbClr val="D9A92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10528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50608" y="2834640"/>
            <a:ext cx="421812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gets triaged out.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about a hundredth of a cent a notice, every letter gets read, not only the ones that look important.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309360" y="3931920"/>
            <a:ext cx="5242255" cy="960120"/>
          </a:xfrm>
          <a:prstGeom prst="roundRect">
            <a:avLst>
              <a:gd name="adj" fmla="val 11429"/>
            </a:avLst>
          </a:prstGeom>
          <a:solidFill>
            <a:srgbClr val="FBF6EA"/>
          </a:solidFill>
          <a:ln w="15875">
            <a:solidFill>
              <a:srgbClr val="C9971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528" y="4178808"/>
            <a:ext cx="457200" cy="457200"/>
          </a:xfrm>
          <a:prstGeom prst="ellipse">
            <a:avLst/>
          </a:prstGeom>
          <a:solidFill>
            <a:srgbClr val="D9A92C"/>
          </a:solidFill>
          <a:ln w="12700">
            <a:solidFill>
              <a:srgbClr val="D9A92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10528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150608" y="3931920"/>
            <a:ext cx="421812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can be checked.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is arithmetic over your own bill of materials. Nobody has to trust a model with a million-euro order.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309360" y="5029200"/>
            <a:ext cx="5242255" cy="960120"/>
          </a:xfrm>
          <a:prstGeom prst="roundRect">
            <a:avLst>
              <a:gd name="adj" fmla="val 11429"/>
            </a:avLst>
          </a:prstGeom>
          <a:solidFill>
            <a:srgbClr val="FBF6EA"/>
          </a:solidFill>
          <a:ln w="15875">
            <a:solidFill>
              <a:srgbClr val="C9971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10528" y="5276088"/>
            <a:ext cx="457200" cy="457200"/>
          </a:xfrm>
          <a:prstGeom prst="ellipse">
            <a:avLst/>
          </a:prstGeom>
          <a:solidFill>
            <a:srgbClr val="D9A92C"/>
          </a:solidFill>
          <a:ln w="12700">
            <a:solidFill>
              <a:srgbClr val="D9A92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10528" y="5276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150608" y="5029200"/>
            <a:ext cx="421812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works on your data.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bill of materials as a CSV, from any system. The columns are worked out from their names.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814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Exists Today &amp; the Gap</a:t>
            </a:r>
            <a:endParaRPr lang="en-US" sz="3000" dirty="0"/>
          </a:p>
        </p:txBody>
      </p:sp>
      <p:pic>
        <p:nvPicPr>
          <p:cNvPr id="3" name="Image 0" descr="G:\amd-hackathon\lastbuy\submission\assets\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687" y="420624"/>
            <a:ext cx="566928" cy="516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454335" y="6419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1600200"/>
            <a:ext cx="502920" cy="502920"/>
          </a:xfrm>
          <a:prstGeom prst="ellipse">
            <a:avLst/>
          </a:prstGeom>
          <a:solidFill>
            <a:srgbClr val="D62D12"/>
          </a:solidFill>
          <a:ln w="12700">
            <a:solidFill>
              <a:srgbClr val="D62D1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72768" y="1600200"/>
            <a:ext cx="2357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databases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14400" y="2286000"/>
            <a:ext cx="2905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SiliconExpert, Z2Data, Accuris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14400" y="260604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you a part is at risk.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2960" y="3246120"/>
            <a:ext cx="3088538" cy="1463040"/>
          </a:xfrm>
          <a:prstGeom prst="roundRect">
            <a:avLst>
              <a:gd name="adj" fmla="val 5000"/>
            </a:avLst>
          </a:prstGeom>
          <a:solidFill>
            <a:srgbClr val="F8F5F4"/>
          </a:solidFill>
          <a:ln w="9525">
            <a:solidFill>
              <a:srgbClr val="E6E0D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05840" y="3392424"/>
            <a:ext cx="27227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" y="3611880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status and risk scores for millions of parts.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005840" y="4032504"/>
            <a:ext cx="27227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MISSES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05840" y="4251960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your products it stops, and how many to buy.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368698" y="132588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43018" y="1600200"/>
            <a:ext cx="502920" cy="502920"/>
          </a:xfrm>
          <a:prstGeom prst="ellipse">
            <a:avLst/>
          </a:prstGeom>
          <a:solidFill>
            <a:srgbClr val="D62D12"/>
          </a:solidFill>
          <a:ln w="12700">
            <a:solidFill>
              <a:srgbClr val="D62D1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643018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301386" y="1600200"/>
            <a:ext cx="2357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search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4643018" y="2286000"/>
            <a:ext cx="2905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Octopart, distributor sites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643018" y="260604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and stock for one part number at a time.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51578" y="3246120"/>
            <a:ext cx="3088538" cy="1463040"/>
          </a:xfrm>
          <a:prstGeom prst="roundRect">
            <a:avLst>
              <a:gd name="adj" fmla="val 5000"/>
            </a:avLst>
          </a:prstGeom>
          <a:solidFill>
            <a:srgbClr val="F8F5F4"/>
          </a:solidFill>
          <a:ln w="9525">
            <a:solidFill>
              <a:srgbClr val="E6E0D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34458" y="3392424"/>
            <a:ext cx="27227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734458" y="3611880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who still sells the part, and for how much.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734458" y="4032504"/>
            <a:ext cx="27227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MISSES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734458" y="4251960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about your products.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8097317" y="132588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71637" y="1600200"/>
            <a:ext cx="502920" cy="502920"/>
          </a:xfrm>
          <a:prstGeom prst="ellipse">
            <a:avLst/>
          </a:prstGeom>
          <a:solidFill>
            <a:srgbClr val="D62D12"/>
          </a:solidFill>
          <a:ln w="12700">
            <a:solidFill>
              <a:srgbClr val="D62D1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371637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9030005" y="1600200"/>
            <a:ext cx="2357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Spreadsheets and email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8371637" y="2286000"/>
            <a:ext cx="2905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most teams actually use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371637" y="260604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 when someone has time. Slow when they don't.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8280197" y="3246120"/>
            <a:ext cx="3088538" cy="1463040"/>
          </a:xfrm>
          <a:prstGeom prst="roundRect">
            <a:avLst>
              <a:gd name="adj" fmla="val 5000"/>
            </a:avLst>
          </a:prstGeom>
          <a:solidFill>
            <a:srgbClr val="F8F5F4"/>
          </a:solidFill>
          <a:ln w="9525">
            <a:solidFill>
              <a:srgbClr val="E6E0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463077" y="3392424"/>
            <a:ext cx="27227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8463077" y="3611880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the person doing it knows.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8463077" y="4032504"/>
            <a:ext cx="27227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MISSES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8463077" y="4251960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deadline, the week that person is busy.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640080" y="5120640"/>
            <a:ext cx="10911535" cy="914400"/>
          </a:xfrm>
          <a:prstGeom prst="roundRect">
            <a:avLst>
              <a:gd name="adj" fmla="val 12000"/>
            </a:avLst>
          </a:prstGeom>
          <a:solidFill>
            <a:srgbClr val="FCEEEA"/>
          </a:solidFill>
          <a:ln w="15875">
            <a:solidFill>
              <a:srgbClr val="D62D1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87552" y="5120640"/>
            <a:ext cx="1021659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reads the supplier's letter, traces the part through your own products, and hands back what to buy, with the working shown.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814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Comparison</a:t>
            </a:r>
            <a:endParaRPr lang="en-US" sz="3000" dirty="0"/>
          </a:p>
        </p:txBody>
      </p:sp>
      <p:pic>
        <p:nvPicPr>
          <p:cNvPr id="3" name="Image 0" descr="G:\amd-hackathon\lastbuy\submission\assets\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687" y="420624"/>
            <a:ext cx="566928" cy="516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454335" y="6419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5/12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25880"/>
          <a:ext cx="1091153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057400"/>
                <a:gridCol w="1645920"/>
                <a:gridCol w="2240280"/>
                <a:gridCol w="245333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Lifecycle databases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search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Spreadsheet by hand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LastBuy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2D1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1231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Starts from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part number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part number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letter, read by a person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letter, read for you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E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1231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Knows your products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you upload your BOM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someone's head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from your BOM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E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1231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the letter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does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any language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E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1231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Sizes the last order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 hand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E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1231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Shows how each number was made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depends who did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E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1231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licence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4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 time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about $0.0001 a notice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91440" marT="36576" marB="36576" anchor="ctr">
                    <a:lnL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EEA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" y="5440680"/>
            <a:ext cx="10911535" cy="640080"/>
          </a:xfrm>
          <a:prstGeom prst="roundRect">
            <a:avLst>
              <a:gd name="adj" fmla="val 17143"/>
            </a:avLst>
          </a:prstGeom>
          <a:solidFill>
            <a:srgbClr val="FBF6EA"/>
          </a:solidFill>
          <a:ln w="15875">
            <a:solidFill>
              <a:srgbClr val="C9971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87552" y="5440680"/>
            <a:ext cx="102165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one that starts from the letter and ends with what to buy.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814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&amp; Product Idea</a:t>
            </a:r>
            <a:endParaRPr lang="en-US" sz="3000" dirty="0"/>
          </a:p>
        </p:txBody>
      </p:sp>
      <p:pic>
        <p:nvPicPr>
          <p:cNvPr id="3" name="Image 0" descr="G:\amd-hackathon\lastbuy\submission\assets\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687" y="420624"/>
            <a:ext cx="566928" cy="516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454335" y="6419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2072640" cy="22402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160020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103120"/>
            <a:ext cx="161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notice: a PDF, a scan or a phone photo, in any language.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895600" y="1325880"/>
            <a:ext cx="2072640" cy="22402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124200" y="160020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124200" y="2103120"/>
            <a:ext cx="161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Walks your bill of materials up to every product the part is in.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151120" y="1325880"/>
            <a:ext cx="2072640" cy="22402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79720" y="160020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379720" y="2103120"/>
            <a:ext cx="161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to buy, what it costs, and what it protects.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0080" y="3749040"/>
            <a:ext cx="2072640" cy="2240280"/>
          </a:xfrm>
          <a:prstGeom prst="roundRect">
            <a:avLst>
              <a:gd name="adj" fmla="val 5294"/>
            </a:avLst>
          </a:prstGeom>
          <a:solidFill>
            <a:srgbClr val="FCEEEA"/>
          </a:solidFill>
          <a:ln w="15875">
            <a:solidFill>
              <a:srgbClr val="D62D1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402336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68680" y="4526280"/>
            <a:ext cx="161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shows the path it came from, so you can check it.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895600" y="3749040"/>
            <a:ext cx="2072640" cy="2240280"/>
          </a:xfrm>
          <a:prstGeom prst="roundRect">
            <a:avLst>
              <a:gd name="adj" fmla="val 5294"/>
            </a:avLst>
          </a:prstGeom>
          <a:solidFill>
            <a:srgbClr val="FCEEEA"/>
          </a:solidFill>
          <a:ln w="15875">
            <a:solidFill>
              <a:srgbClr val="D62D1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24200" y="402336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3124200" y="4526280"/>
            <a:ext cx="161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supplier order and the customer notice, ready to review.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151120" y="3749040"/>
            <a:ext cx="2072640" cy="2240280"/>
          </a:xfrm>
          <a:prstGeom prst="roundRect">
            <a:avLst>
              <a:gd name="adj" fmla="val 5294"/>
            </a:avLst>
          </a:prstGeom>
          <a:solidFill>
            <a:srgbClr val="FCEEEA"/>
          </a:solidFill>
          <a:ln w="15875">
            <a:solidFill>
              <a:srgbClr val="D62D1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379720" y="402336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Waits for you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5379720" y="4526280"/>
            <a:ext cx="161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ordered until a named person approves it.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543800" y="1234440"/>
            <a:ext cx="4007815" cy="4892040"/>
          </a:xfrm>
          <a:prstGeom prst="roundRect">
            <a:avLst>
              <a:gd name="adj" fmla="val 319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0" y="1508760"/>
            <a:ext cx="3367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2B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0" y="1737360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LastBuy</a:t>
            </a:r>
            <a:endParaRPr lang="en-US" sz="2400" dirty="0"/>
          </a:p>
        </p:txBody>
      </p:sp>
      <p:sp>
        <p:nvSpPr>
          <p:cNvPr id="27" name="Text 24"/>
          <p:cNvSpPr/>
          <p:nvPr/>
        </p:nvSpPr>
        <p:spPr>
          <a:xfrm>
            <a:off x="7863840" y="224028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in the letter. Get what it breaks.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7863840" y="2697480"/>
            <a:ext cx="384048" cy="384048"/>
          </a:xfrm>
          <a:prstGeom prst="ellipse">
            <a:avLst/>
          </a:prstGeom>
          <a:solidFill>
            <a:srgbClr val="E2B33C"/>
          </a:solidFill>
          <a:ln w="12700">
            <a:solidFill>
              <a:srgbClr val="E2B33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394192" y="2697480"/>
            <a:ext cx="2837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B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In: </a:t>
            </a:r>
            <a:pPr indent="0" marL="0">
              <a:buNone/>
            </a:pPr>
            <a:r>
              <a:rPr lang="en-US" sz="1250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letter, and your BOM as a CSV.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7863840" y="3227832"/>
            <a:ext cx="384048" cy="384048"/>
          </a:xfrm>
          <a:prstGeom prst="ellipse">
            <a:avLst/>
          </a:prstGeom>
          <a:solidFill>
            <a:srgbClr val="E2B33C"/>
          </a:solidFill>
          <a:ln w="12700">
            <a:solidFill>
              <a:srgbClr val="E2B33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8394192" y="3227832"/>
            <a:ext cx="2837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B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Finds: </a:t>
            </a:r>
            <a:pPr indent="0" marL="0">
              <a:buNone/>
            </a:pPr>
            <a:r>
              <a:rPr lang="en-US" sz="1250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product the part stops.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7863840" y="3758184"/>
            <a:ext cx="384048" cy="384048"/>
          </a:xfrm>
          <a:prstGeom prst="ellipse">
            <a:avLst/>
          </a:prstGeom>
          <a:solidFill>
            <a:srgbClr val="E2B33C"/>
          </a:solidFill>
          <a:ln w="12700">
            <a:solidFill>
              <a:srgbClr val="E2B33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0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8394192" y="3758184"/>
            <a:ext cx="2837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B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Out: </a:t>
            </a:r>
            <a:pPr indent="0" marL="0">
              <a:buNone/>
            </a:pPr>
            <a:r>
              <a:rPr lang="en-US" sz="1250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buy, what it costs, a memo.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7863840" y="4389120"/>
            <a:ext cx="3367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2B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 RESULT  ·  ADUM1201ARZ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7863840" y="4663440"/>
            <a:ext cx="3367735" cy="283464"/>
          </a:xfrm>
          <a:prstGeom prst="roundRect">
            <a:avLst>
              <a:gd name="adj" fmla="val 16129"/>
            </a:avLst>
          </a:prstGeom>
          <a:solidFill>
            <a:srgbClr val="24272E"/>
          </a:solidFill>
          <a:ln w="12700">
            <a:solidFill>
              <a:srgbClr val="24272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001000" y="4663440"/>
            <a:ext cx="202064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it stops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79321" y="4663440"/>
            <a:ext cx="171509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2B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863840" y="5001768"/>
            <a:ext cx="3367735" cy="283464"/>
          </a:xfrm>
          <a:prstGeom prst="roundRect">
            <a:avLst>
              <a:gd name="adj" fmla="val 16129"/>
            </a:avLst>
          </a:prstGeom>
          <a:solidFill>
            <a:srgbClr val="24272E"/>
          </a:solidFill>
          <a:ln w="12700">
            <a:solidFill>
              <a:srgbClr val="24272E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001000" y="5001768"/>
            <a:ext cx="202064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behind them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379321" y="5001768"/>
            <a:ext cx="171509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2B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€9.06M / yr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863840" y="5340096"/>
            <a:ext cx="3367735" cy="283464"/>
          </a:xfrm>
          <a:prstGeom prst="roundRect">
            <a:avLst>
              <a:gd name="adj" fmla="val 16129"/>
            </a:avLst>
          </a:prstGeom>
          <a:solidFill>
            <a:srgbClr val="24272E"/>
          </a:solidFill>
          <a:ln w="12700">
            <a:solidFill>
              <a:srgbClr val="24272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001000" y="5340096"/>
            <a:ext cx="202064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to buy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379321" y="5340096"/>
            <a:ext cx="171509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2B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504,798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7863840" y="5678424"/>
            <a:ext cx="3367735" cy="283464"/>
          </a:xfrm>
          <a:prstGeom prst="roundRect">
            <a:avLst>
              <a:gd name="adj" fmla="val 16129"/>
            </a:avLst>
          </a:prstGeom>
          <a:solidFill>
            <a:srgbClr val="24272E"/>
          </a:solidFill>
          <a:ln w="12700">
            <a:solidFill>
              <a:srgbClr val="24272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01000" y="5678424"/>
            <a:ext cx="202064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to order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79321" y="5678424"/>
            <a:ext cx="171509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814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3000" dirty="0"/>
          </a:p>
        </p:txBody>
      </p:sp>
      <p:pic>
        <p:nvPicPr>
          <p:cNvPr id="3" name="Image 0" descr="G:\amd-hackathon\lastbuy\submission\assets\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687" y="420624"/>
            <a:ext cx="566928" cy="516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454335" y="6419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7/12</a:t>
            </a:r>
            <a:endParaRPr lang="en-US" sz="1100" dirty="0"/>
          </a:p>
        </p:txBody>
      </p:sp>
      <p:pic>
        <p:nvPicPr>
          <p:cNvPr id="6" name="Image 1" descr="G:\amd-hackathon\lastbuy\submission\diagrams\01-syst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18120" cy="38333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732520" y="1325880"/>
            <a:ext cx="2819095" cy="1186340"/>
          </a:xfrm>
          <a:prstGeom prst="roundRect">
            <a:avLst>
              <a:gd name="adj" fmla="val 9249"/>
            </a:avLst>
          </a:prstGeom>
          <a:solidFill>
            <a:srgbClr val="EAF2FD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961120" y="1508760"/>
            <a:ext cx="2361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55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INSTINCT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8961120" y="1719072"/>
            <a:ext cx="2361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and writes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8961120" y="2029968"/>
            <a:ext cx="2361895" cy="390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MinerU2.5-Pro reads the scan. Gemma-4-31B-IT writes the memo.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732520" y="2649380"/>
            <a:ext cx="2819095" cy="1186340"/>
          </a:xfrm>
          <a:prstGeom prst="roundRect">
            <a:avLst>
              <a:gd name="adj" fmla="val 9249"/>
            </a:avLst>
          </a:prstGeom>
          <a:solidFill>
            <a:srgbClr val="EAF2FD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961120" y="2832260"/>
            <a:ext cx="2361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55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EVOLUS  ·  LYCHEE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961120" y="3042572"/>
            <a:ext cx="2361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 certificates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8961120" y="3353468"/>
            <a:ext cx="2361895" cy="390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on the same AMD model. It cites the clause.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732520" y="3972880"/>
            <a:ext cx="2819095" cy="1186340"/>
          </a:xfrm>
          <a:prstGeom prst="roundRect">
            <a:avLst>
              <a:gd name="adj" fmla="val 9249"/>
            </a:avLst>
          </a:prstGeom>
          <a:solidFill>
            <a:srgbClr val="E8F5EE"/>
          </a:solidFill>
          <a:ln w="15875">
            <a:solidFill>
              <a:srgbClr val="1E8E5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961120" y="4155760"/>
            <a:ext cx="2361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6C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ENGINE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961120" y="4366072"/>
            <a:ext cx="2361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maths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8961120" y="4676968"/>
            <a:ext cx="2361895" cy="390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you act on. Plain code, no model.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40080" y="557070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AF2FD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43000" y="55798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reads or writes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931920" y="557070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8F5EE"/>
          </a:solidFill>
          <a:ln w="15875">
            <a:solidFill>
              <a:srgbClr val="1E8E5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434840" y="55798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code: rules and arithmetic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814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to a Notice</a:t>
            </a:r>
            <a:endParaRPr lang="en-US" sz="3000" dirty="0"/>
          </a:p>
        </p:txBody>
      </p:sp>
      <p:pic>
        <p:nvPicPr>
          <p:cNvPr id="3" name="Image 0" descr="G:\amd-hackathon\lastbuy\submission\assets\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687" y="420624"/>
            <a:ext cx="566928" cy="516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454335" y="6419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8/12</a:t>
            </a:r>
            <a:endParaRPr lang="en-US" sz="1100" dirty="0"/>
          </a:p>
        </p:txBody>
      </p:sp>
      <p:pic>
        <p:nvPicPr>
          <p:cNvPr id="6" name="Image 1" descr="G:\amd-hackathon\lastbuy\submission\diagrams\02-no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8760"/>
            <a:ext cx="7818120" cy="35228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732520" y="1325880"/>
            <a:ext cx="2819095" cy="1600200"/>
          </a:xfrm>
          <a:prstGeom prst="roundRect">
            <a:avLst>
              <a:gd name="adj" fmla="val 6857"/>
            </a:avLst>
          </a:prstGeom>
          <a:solidFill>
            <a:srgbClr val="E8F5EE"/>
          </a:solidFill>
          <a:ln w="15875">
            <a:solidFill>
              <a:srgbClr val="1E8E5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961120" y="1508760"/>
            <a:ext cx="2361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6C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PAGE SAYS IT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8961120" y="1737360"/>
            <a:ext cx="2361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27s</a:t>
            </a:r>
            <a:endParaRPr lang="en-US" sz="3600" dirty="0"/>
          </a:p>
        </p:txBody>
      </p:sp>
      <p:sp>
        <p:nvSpPr>
          <p:cNvPr id="10" name="Text 6"/>
          <p:cNvSpPr/>
          <p:nvPr/>
        </p:nvSpPr>
        <p:spPr>
          <a:xfrm>
            <a:off x="8961120" y="2404872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credits, $0. No model runs.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732520" y="3108960"/>
            <a:ext cx="2819095" cy="1600200"/>
          </a:xfrm>
          <a:prstGeom prst="roundRect">
            <a:avLst>
              <a:gd name="adj" fmla="val 6857"/>
            </a:avLst>
          </a:prstGeom>
          <a:solidFill>
            <a:srgbClr val="EAF2FD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961120" y="3291840"/>
            <a:ext cx="2361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55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DOESN'T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961120" y="3520440"/>
            <a:ext cx="2361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54s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8961120" y="4187952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Evolus and Gemma fill the gap. 10.6 credits.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5074920"/>
            <a:ext cx="10911535" cy="777240"/>
          </a:xfrm>
          <a:prstGeom prst="roundRect">
            <a:avLst>
              <a:gd name="adj" fmla="val 14118"/>
            </a:avLst>
          </a:prstGeom>
          <a:solidFill>
            <a:srgbClr val="FBF6EA"/>
          </a:solidFill>
          <a:ln w="15875">
            <a:solidFill>
              <a:srgbClr val="C9971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7552" y="5074920"/>
            <a:ext cx="102165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notice is a form. Read the form first, and ask a model only for what the page didn't say.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814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</a:t>
            </a:r>
            <a:endParaRPr lang="en-US" sz="3000" dirty="0"/>
          </a:p>
        </p:txBody>
      </p:sp>
      <p:pic>
        <p:nvPicPr>
          <p:cNvPr id="3" name="Image 0" descr="G:\amd-hackathon\lastbuy\submission\assets\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687" y="420624"/>
            <a:ext cx="566928" cy="516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454335" y="6419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417320"/>
            <a:ext cx="233172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54533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on screen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1248" y="1819656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page you are on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17520" y="1783080"/>
            <a:ext cx="6400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2834640" y="153619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0080" y="2286000"/>
            <a:ext cx="233172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" y="241401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system works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41248" y="2688336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screen and figure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017520" y="2651760"/>
            <a:ext cx="6400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40080" y="3154680"/>
            <a:ext cx="233172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1248" y="328269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documents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41248" y="3557016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notices, BOMs, certificates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017520" y="3520440"/>
            <a:ext cx="6400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703320" y="1325880"/>
            <a:ext cx="2286000" cy="278892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pic>
        <p:nvPicPr>
          <p:cNvPr id="20" name="Image 1" descr="G:\amd-hackathon\lastbuy\submission\assets\vigil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1940" y="1508760"/>
            <a:ext cx="1508760" cy="1508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03320" y="31089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4114800" y="356616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114800" y="3566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 to ask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035040" y="2697480"/>
            <a:ext cx="594360" cy="0"/>
          </a:xfrm>
          <a:prstGeom prst="line">
            <a:avLst/>
          </a:prstGeom>
          <a:noFill/>
          <a:ln w="19050">
            <a:solidFill>
              <a:srgbClr val="1A73E8"/>
            </a:solidFill>
            <a:prstDash val="solid"/>
            <a:tailEnd type="triangle"/>
          </a:ln>
        </p:spPr>
      </p:sp>
      <p:sp>
        <p:nvSpPr>
          <p:cNvPr id="25" name="Text 21"/>
          <p:cNvSpPr/>
          <p:nvPr/>
        </p:nvSpPr>
        <p:spPr>
          <a:xfrm>
            <a:off x="5852160" y="24505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6675120" y="1828800"/>
            <a:ext cx="2240280" cy="1783080"/>
          </a:xfrm>
          <a:prstGeom prst="roundRect">
            <a:avLst>
              <a:gd name="adj" fmla="val 6154"/>
            </a:avLst>
          </a:prstGeom>
          <a:solidFill>
            <a:srgbClr val="EAF2FD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876288" y="1984248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55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</a:t>
            </a:r>
            <a:endParaRPr lang="en-US" sz="950" dirty="0"/>
          </a:p>
        </p:txBody>
      </p:sp>
      <p:pic>
        <p:nvPicPr>
          <p:cNvPr id="28" name="Image 2" descr="G:\amd-hackathon\lastbuy\submission\assets\logo-am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286000"/>
            <a:ext cx="868680" cy="250478"/>
          </a:xfrm>
          <a:prstGeom prst="rect">
            <a:avLst/>
          </a:prstGeom>
        </p:spPr>
      </p:pic>
      <p:pic>
        <p:nvPicPr>
          <p:cNvPr id="29" name="Image 3" descr="G:\amd-hackathon\lastbuy\submission\assets\logo-gemm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221992"/>
            <a:ext cx="868680" cy="334981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876288" y="2788920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Gemma-4-31B-IT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6876288" y="3063240"/>
            <a:ext cx="1837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AMD Instinct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8961120" y="2697480"/>
            <a:ext cx="594360" cy="0"/>
          </a:xfrm>
          <a:prstGeom prst="line">
            <a:avLst/>
          </a:prstGeom>
          <a:noFill/>
          <a:ln w="19050">
            <a:solidFill>
              <a:srgbClr val="D62D12"/>
            </a:solidFill>
            <a:prstDash val="solid"/>
            <a:tailEnd type="triangle"/>
          </a:ln>
        </p:spPr>
      </p:sp>
      <p:sp>
        <p:nvSpPr>
          <p:cNvPr id="33" name="Text 27"/>
          <p:cNvSpPr/>
          <p:nvPr/>
        </p:nvSpPr>
        <p:spPr>
          <a:xfrm>
            <a:off x="8778240" y="24505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9601200" y="1600200"/>
            <a:ext cx="1950415" cy="2240280"/>
          </a:xfrm>
          <a:prstGeom prst="roundRect">
            <a:avLst>
              <a:gd name="adj" fmla="val 5626"/>
            </a:avLst>
          </a:prstGeom>
          <a:solidFill>
            <a:srgbClr val="FBF6EA"/>
          </a:solidFill>
          <a:ln w="15875">
            <a:solidFill>
              <a:srgbClr val="C9971C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9802368" y="1783080"/>
            <a:ext cx="15480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READ</a:t>
            </a:r>
            <a:endParaRPr lang="en-US" sz="950" dirty="0"/>
          </a:p>
        </p:txBody>
      </p:sp>
      <p:sp>
        <p:nvSpPr>
          <p:cNvPr id="36" name="Text 30"/>
          <p:cNvSpPr/>
          <p:nvPr/>
        </p:nvSpPr>
        <p:spPr>
          <a:xfrm>
            <a:off x="9802368" y="2103120"/>
            <a:ext cx="1584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5 products.</a:t>
            </a:r>
            <a:endParaRPr lang="en-US" sz="1250" dirty="0"/>
          </a:p>
        </p:txBody>
      </p:sp>
      <p:sp>
        <p:nvSpPr>
          <p:cNvPr id="37" name="Shape 31"/>
          <p:cNvSpPr/>
          <p:nvPr/>
        </p:nvSpPr>
        <p:spPr>
          <a:xfrm>
            <a:off x="9802368" y="243230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9802368" y="243230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9802368" y="2926080"/>
            <a:ext cx="1584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buy: 17 Nov.</a:t>
            </a:r>
            <a:endParaRPr lang="en-US" sz="1250" dirty="0"/>
          </a:p>
        </p:txBody>
      </p:sp>
      <p:sp>
        <p:nvSpPr>
          <p:cNvPr id="40" name="Shape 34"/>
          <p:cNvSpPr/>
          <p:nvPr/>
        </p:nvSpPr>
        <p:spPr>
          <a:xfrm>
            <a:off x="9802368" y="32552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9802368" y="32552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PCN.pdf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640080" y="4434840"/>
            <a:ext cx="255643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41248" y="4636008"/>
            <a:ext cx="384048" cy="384048"/>
          </a:xfrm>
          <a:prstGeom prst="ellipse">
            <a:avLst/>
          </a:prstGeom>
          <a:solidFill>
            <a:srgbClr val="D62D12"/>
          </a:solidFill>
          <a:ln w="12700">
            <a:solidFill>
              <a:srgbClr val="D62D12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41248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5" name="Text 39"/>
          <p:cNvSpPr/>
          <p:nvPr/>
        </p:nvSpPr>
        <p:spPr>
          <a:xfrm>
            <a:off x="841248" y="5138928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your screen</a:t>
            </a:r>
            <a:endParaRPr lang="en-US" sz="1350" dirty="0"/>
          </a:p>
        </p:txBody>
      </p:sp>
      <p:sp>
        <p:nvSpPr>
          <p:cNvPr id="46" name="Text 40"/>
          <p:cNvSpPr/>
          <p:nvPr/>
        </p:nvSpPr>
        <p:spPr>
          <a:xfrm>
            <a:off x="841248" y="5458968"/>
            <a:ext cx="2154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Knows which page you are on, and what is on it.</a:t>
            </a:r>
            <a:endParaRPr lang="en-US" sz="1150" dirty="0"/>
          </a:p>
        </p:txBody>
      </p:sp>
      <p:sp>
        <p:nvSpPr>
          <p:cNvPr id="47" name="Shape 41"/>
          <p:cNvSpPr/>
          <p:nvPr/>
        </p:nvSpPr>
        <p:spPr>
          <a:xfrm>
            <a:off x="3425114" y="4434840"/>
            <a:ext cx="2556434" cy="1600200"/>
          </a:xfrm>
          <a:prstGeom prst="roundRect">
            <a:avLst>
              <a:gd name="adj" fmla="val 6857"/>
            </a:avLst>
          </a:prstGeom>
          <a:solidFill>
            <a:srgbClr val="FCEEEA"/>
          </a:solidFill>
          <a:ln w="15875">
            <a:solidFill>
              <a:srgbClr val="D62D12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3626282" y="4636008"/>
            <a:ext cx="384048" cy="384048"/>
          </a:xfrm>
          <a:prstGeom prst="ellipse">
            <a:avLst/>
          </a:prstGeom>
          <a:solidFill>
            <a:srgbClr val="D62D12"/>
          </a:solidFill>
          <a:ln w="12700">
            <a:solidFill>
              <a:srgbClr val="D62D1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3626282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0" name="Text 44"/>
          <p:cNvSpPr/>
          <p:nvPr/>
        </p:nvSpPr>
        <p:spPr>
          <a:xfrm>
            <a:off x="3626282" y="5138928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its sources</a:t>
            </a:r>
            <a:endParaRPr lang="en-US" sz="1350" dirty="0"/>
          </a:p>
        </p:txBody>
      </p:sp>
      <p:sp>
        <p:nvSpPr>
          <p:cNvPr id="51" name="Text 45"/>
          <p:cNvSpPr/>
          <p:nvPr/>
        </p:nvSpPr>
        <p:spPr>
          <a:xfrm>
            <a:off x="3626282" y="5458968"/>
            <a:ext cx="2154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ends with where it came from.</a:t>
            </a:r>
            <a:endParaRPr lang="en-US" sz="1150" dirty="0"/>
          </a:p>
        </p:txBody>
      </p:sp>
      <p:sp>
        <p:nvSpPr>
          <p:cNvPr id="52" name="Shape 46"/>
          <p:cNvSpPr/>
          <p:nvPr/>
        </p:nvSpPr>
        <p:spPr>
          <a:xfrm>
            <a:off x="6210148" y="4434840"/>
            <a:ext cx="255643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6411316" y="4636008"/>
            <a:ext cx="384048" cy="384048"/>
          </a:xfrm>
          <a:prstGeom prst="ellipse">
            <a:avLst/>
          </a:prstGeom>
          <a:solidFill>
            <a:srgbClr val="D62D12"/>
          </a:solidFill>
          <a:ln w="12700">
            <a:solidFill>
              <a:srgbClr val="D62D12"/>
            </a:solidFill>
            <a:prstDash val="solid"/>
          </a:ln>
        </p:spPr>
      </p:sp>
      <p:sp>
        <p:nvSpPr>
          <p:cNvPr id="54" name="Text 48"/>
          <p:cNvSpPr/>
          <p:nvPr/>
        </p:nvSpPr>
        <p:spPr>
          <a:xfrm>
            <a:off x="6411316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5" name="Text 49"/>
          <p:cNvSpPr/>
          <p:nvPr/>
        </p:nvSpPr>
        <p:spPr>
          <a:xfrm>
            <a:off x="6411316" y="5138928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Says "I don't know"</a:t>
            </a:r>
            <a:endParaRPr lang="en-US" sz="1350" dirty="0"/>
          </a:p>
        </p:txBody>
      </p:sp>
      <p:sp>
        <p:nvSpPr>
          <p:cNvPr id="56" name="Text 50"/>
          <p:cNvSpPr/>
          <p:nvPr/>
        </p:nvSpPr>
        <p:spPr>
          <a:xfrm>
            <a:off x="6411316" y="5458968"/>
            <a:ext cx="2154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guessing to fill a gap.</a:t>
            </a:r>
            <a:endParaRPr lang="en-US" sz="1150" dirty="0"/>
          </a:p>
        </p:txBody>
      </p:sp>
      <p:sp>
        <p:nvSpPr>
          <p:cNvPr id="57" name="Shape 51"/>
          <p:cNvSpPr/>
          <p:nvPr/>
        </p:nvSpPr>
        <p:spPr>
          <a:xfrm>
            <a:off x="8995181" y="4434840"/>
            <a:ext cx="255643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9196349" y="4636008"/>
            <a:ext cx="384048" cy="384048"/>
          </a:xfrm>
          <a:prstGeom prst="ellipse">
            <a:avLst/>
          </a:prstGeom>
          <a:solidFill>
            <a:srgbClr val="D62D12"/>
          </a:solidFill>
          <a:ln w="12700">
            <a:solidFill>
              <a:srgbClr val="D62D12"/>
            </a:solidFill>
            <a:prstDash val="solid"/>
          </a:ln>
        </p:spPr>
      </p:sp>
      <p:sp>
        <p:nvSpPr>
          <p:cNvPr id="59" name="Text 53"/>
          <p:cNvSpPr/>
          <p:nvPr/>
        </p:nvSpPr>
        <p:spPr>
          <a:xfrm>
            <a:off x="9196349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0" name="Text 54"/>
          <p:cNvSpPr/>
          <p:nvPr/>
        </p:nvSpPr>
        <p:spPr>
          <a:xfrm>
            <a:off x="9196349" y="5138928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Floats on every page</a:t>
            </a:r>
            <a:endParaRPr lang="en-US" sz="1350" dirty="0"/>
          </a:p>
        </p:txBody>
      </p:sp>
      <p:sp>
        <p:nvSpPr>
          <p:cNvPr id="61" name="Text 55"/>
          <p:cNvSpPr/>
          <p:nvPr/>
        </p:nvSpPr>
        <p:spPr>
          <a:xfrm>
            <a:off x="9196349" y="5458968"/>
            <a:ext cx="2154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is open. Asking needs an account.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814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Vigil Remembers</a:t>
            </a:r>
            <a:endParaRPr lang="en-US" sz="3000" dirty="0"/>
          </a:p>
        </p:txBody>
      </p:sp>
      <p:pic>
        <p:nvPicPr>
          <p:cNvPr id="3" name="Image 0" descr="G:\amd-hackathon\lastbuy\submission\assets\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687" y="420624"/>
            <a:ext cx="566928" cy="516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454335" y="6419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10/12</a:t>
            </a:r>
            <a:endParaRPr lang="en-US" sz="1100" dirty="0"/>
          </a:p>
        </p:txBody>
      </p:sp>
      <p:pic>
        <p:nvPicPr>
          <p:cNvPr id="6" name="Image 1" descr="G:\amd-hackathon\lastbuy\submission\diagrams\03-mem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498080" cy="395981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458200" y="1325880"/>
            <a:ext cx="3093415" cy="1228497"/>
          </a:xfrm>
          <a:prstGeom prst="roundRect">
            <a:avLst>
              <a:gd name="adj" fmla="val 8932"/>
            </a:avLst>
          </a:prstGeom>
          <a:solidFill>
            <a:srgbClr val="FBF6EA"/>
          </a:solidFill>
          <a:ln w="15875">
            <a:solidFill>
              <a:srgbClr val="C9971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0" y="1508760"/>
            <a:ext cx="2636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8686800" y="171907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facts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8686800" y="2029968"/>
            <a:ext cx="2636215" cy="432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the chat into claims, each with its source.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458200" y="2691537"/>
            <a:ext cx="3093415" cy="1228497"/>
          </a:xfrm>
          <a:prstGeom prst="roundRect">
            <a:avLst>
              <a:gd name="adj" fmla="val 8932"/>
            </a:avLst>
          </a:prstGeom>
          <a:solidFill>
            <a:srgbClr val="FFFFFF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686800" y="2874417"/>
            <a:ext cx="2636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686800" y="3084729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clean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8686800" y="3395625"/>
            <a:ext cx="2636215" cy="432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chat with an empty window that still knows the claims.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458200" y="4057194"/>
            <a:ext cx="3093415" cy="1228497"/>
          </a:xfrm>
          <a:prstGeom prst="roundRect">
            <a:avLst>
              <a:gd name="adj" fmla="val 8932"/>
            </a:avLst>
          </a:prstGeom>
          <a:solidFill>
            <a:srgbClr val="FCEEEA"/>
          </a:solidFill>
          <a:ln w="15875">
            <a:solidFill>
              <a:srgbClr val="D62D1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686800" y="4240074"/>
            <a:ext cx="2636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686800" y="445038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it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8686800" y="4761282"/>
            <a:ext cx="2636215" cy="432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the conversation. It asks you first.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40080" y="5514291"/>
            <a:ext cx="10911535" cy="640080"/>
          </a:xfrm>
          <a:prstGeom prst="roundRect">
            <a:avLst>
              <a:gd name="adj" fmla="val 17143"/>
            </a:avLst>
          </a:prstGeom>
          <a:solidFill>
            <a:srgbClr val="FBF6EA"/>
          </a:solidFill>
          <a:ln w="15875">
            <a:solidFill>
              <a:srgbClr val="C9971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7552" y="5514291"/>
            <a:ext cx="102165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summary can't be checked. A claim with its source can.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814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Techniques &amp; Structure</a:t>
            </a:r>
            <a:endParaRPr lang="en-US" sz="3000" dirty="0"/>
          </a:p>
        </p:txBody>
      </p:sp>
      <p:pic>
        <p:nvPicPr>
          <p:cNvPr id="3" name="Image 0" descr="G:\amd-hackathon\lastbuy\submission\assets\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687" y="420624"/>
            <a:ext cx="566928" cy="516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A4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454335" y="6419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2439848" cy="3611880"/>
          </a:xfrm>
          <a:prstGeom prst="roundRect">
            <a:avLst>
              <a:gd name="adj" fmla="val 4497"/>
            </a:avLst>
          </a:prstGeom>
          <a:solidFill>
            <a:srgbClr val="EAF2FD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41248" y="1554480"/>
            <a:ext cx="457200" cy="457200"/>
          </a:xfrm>
          <a:prstGeom prst="ellipse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417320" y="1545336"/>
            <a:ext cx="152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55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417320" y="1746504"/>
            <a:ext cx="1525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41248" y="2240280"/>
            <a:ext cx="20740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MinerU2.5-Pro reads PDFs, scans and photos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AMD Instinct, through Token Factory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4672" y="4023360"/>
            <a:ext cx="211066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4023360"/>
            <a:ext cx="1799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Out: </a:t>
            </a:r>
            <a:pPr indent="0" marL="0">
              <a:buNone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notice, as text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180512" y="2948940"/>
            <a:ext cx="182880" cy="365760"/>
          </a:xfrm>
          <a:prstGeom prst="chevron">
            <a:avLst/>
          </a:prstGeom>
          <a:solidFill>
            <a:srgbClr val="D9A92C"/>
          </a:solidFill>
          <a:ln w="12700">
            <a:solidFill>
              <a:srgbClr val="D9A92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63976" y="1325880"/>
            <a:ext cx="2439848" cy="3611880"/>
          </a:xfrm>
          <a:prstGeom prst="roundRect">
            <a:avLst>
              <a:gd name="adj" fmla="val 4497"/>
            </a:avLst>
          </a:prstGeom>
          <a:solidFill>
            <a:srgbClr val="E8F5EE"/>
          </a:solidFill>
          <a:ln w="15875">
            <a:solidFill>
              <a:srgbClr val="1E8E5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65144" y="1554480"/>
            <a:ext cx="457200" cy="457200"/>
          </a:xfrm>
          <a:prstGeom prst="ellipse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65144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241216" y="1545336"/>
            <a:ext cx="152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6C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241216" y="1746504"/>
            <a:ext cx="1525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form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3665144" y="2240280"/>
            <a:ext cx="20740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 ticked category box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 date next to its label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part numbers to your BOM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28568" y="4023360"/>
            <a:ext cx="211066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784016" y="4023360"/>
            <a:ext cx="1799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6C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Out: </a:t>
            </a:r>
            <a:pPr indent="0" marL="0">
              <a:buNone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type, date and parts, with no model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004408" y="2948940"/>
            <a:ext cx="182880" cy="365760"/>
          </a:xfrm>
          <a:prstGeom prst="chevron">
            <a:avLst/>
          </a:prstGeom>
          <a:solidFill>
            <a:srgbClr val="D9A92C"/>
          </a:solidFill>
          <a:ln w="12700">
            <a:solidFill>
              <a:srgbClr val="D9A92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87872" y="1325880"/>
            <a:ext cx="2439848" cy="3611880"/>
          </a:xfrm>
          <a:prstGeom prst="roundRect">
            <a:avLst>
              <a:gd name="adj" fmla="val 4497"/>
            </a:avLst>
          </a:prstGeom>
          <a:solidFill>
            <a:srgbClr val="E8F5EE"/>
          </a:solidFill>
          <a:ln w="15875">
            <a:solidFill>
              <a:srgbClr val="1E8E5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89040" y="1554480"/>
            <a:ext cx="457200" cy="457200"/>
          </a:xfrm>
          <a:prstGeom prst="ellipse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890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065112" y="1545336"/>
            <a:ext cx="152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6C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065112" y="1746504"/>
            <a:ext cx="1525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the part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6489040" y="2240280"/>
            <a:ext cx="20740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Walks the BOM up to every product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Multiplies quantities on each path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Sizes the order for the service period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452464" y="4023360"/>
            <a:ext cx="211066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07912" y="4023360"/>
            <a:ext cx="1799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6C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Out: </a:t>
            </a:r>
            <a:pPr indent="0" marL="0">
              <a:buNone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products, revenue, order size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8828303" y="2948940"/>
            <a:ext cx="182880" cy="365760"/>
          </a:xfrm>
          <a:prstGeom prst="chevron">
            <a:avLst/>
          </a:prstGeom>
          <a:solidFill>
            <a:srgbClr val="D9A92C"/>
          </a:solidFill>
          <a:ln w="12700">
            <a:solidFill>
              <a:srgbClr val="D9A92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111767" y="1325880"/>
            <a:ext cx="2439848" cy="3611880"/>
          </a:xfrm>
          <a:prstGeom prst="roundRect">
            <a:avLst>
              <a:gd name="adj" fmla="val 4497"/>
            </a:avLst>
          </a:prstGeom>
          <a:solidFill>
            <a:srgbClr val="EAF2FD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312935" y="1554480"/>
            <a:ext cx="457200" cy="457200"/>
          </a:xfrm>
          <a:prstGeom prst="ellipse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12935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9889007" y="1545336"/>
            <a:ext cx="152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55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AGENT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9889007" y="1746504"/>
            <a:ext cx="1525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up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9312935" y="2240280"/>
            <a:ext cx="20740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Gemma-4-31B-IT writes the memo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Evolus agent rules on certificates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 answers questions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9276359" y="4023360"/>
            <a:ext cx="211066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431807" y="4023360"/>
            <a:ext cx="1799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Out: </a:t>
            </a:r>
            <a:pPr indent="0" marL="0">
              <a:buNone/>
            </a:pPr>
            <a:r>
              <a:rPr lang="en-US" sz="11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memo, drafts, ruling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40080" y="5138928"/>
            <a:ext cx="10911535" cy="457200"/>
          </a:xfrm>
          <a:prstGeom prst="roundRect">
            <a:avLst>
              <a:gd name="adj" fmla="val 24000"/>
            </a:avLst>
          </a:prstGeom>
          <a:solidFill>
            <a:srgbClr val="FBF6EA"/>
          </a:solidFill>
          <a:ln w="15875">
            <a:solidFill>
              <a:srgbClr val="C9971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14400" y="5138928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  </a:t>
            </a:r>
            <a:pPr indent="0" marL="0">
              <a:buNone/>
            </a:pPr>
            <a:r>
              <a:rPr lang="en-US" sz="12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TypeScript, Tailwind  ·  Vercel and Docker  ·  runs in a browser, nothing to install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40080" y="5705856"/>
            <a:ext cx="10911535" cy="457200"/>
          </a:xfrm>
          <a:prstGeom prst="roundRect">
            <a:avLst>
              <a:gd name="adj" fmla="val 24000"/>
            </a:avLst>
          </a:prstGeom>
          <a:solidFill>
            <a:srgbClr val="FCEEEA"/>
          </a:solidFill>
          <a:ln w="15875">
            <a:solidFill>
              <a:srgbClr val="D62D12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14400" y="570585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12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AMD   </a:t>
            </a:r>
            <a:pPr indent="0" marL="0">
              <a:buNone/>
            </a:pPr>
            <a:r>
              <a:rPr lang="en-US" sz="12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MinerU2.5-Pro  ▸  Gemma-4-31B-IT  ▸  the Evolus agent in workspace lychee, on the same model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"/>
          <p:cNvSpPr/>
          <p:nvPr/>
        </p:nvSpPr>
        <p:spPr>
          <a:xfrm>
            <a:off x="-2377440" y="3108960"/>
            <a:ext cx="5669280" cy="5669280"/>
          </a:xfrm>
          <a:prstGeom prst="ellipse">
            <a:avLst/>
          </a:prstGeom>
          <a:solidFill>
            <a:srgbClr val="121419"/>
          </a:solidFill>
          <a:ln w="12700">
            <a:solidFill>
              <a:srgbClr val="1C1F25"/>
            </a:solidFill>
            <a:prstDash val="solid"/>
          </a:ln>
        </p:spPr>
      </p:sp>
      <p:pic>
        <p:nvPicPr>
          <p:cNvPr id="3" name="Image 0" descr="G:\amd-hackathon\lastbuy\submission\assets\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4784" y="274320"/>
            <a:ext cx="1069848" cy="9784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029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37160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7191E"/>
          </a:solidFill>
          <a:ln w="12700">
            <a:solidFill>
              <a:srgbClr val="17191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137160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Obsolescence management is already an industry. Every tool in it is a database you search. </a:t>
            </a:r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one reads the letter and tells you what breaks.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40080" y="2834640"/>
            <a:ext cx="5318608" cy="1353312"/>
          </a:xfrm>
          <a:prstGeom prst="roundRect">
            <a:avLst>
              <a:gd name="adj" fmla="val 8108"/>
            </a:avLst>
          </a:prstGeom>
          <a:solidFill>
            <a:srgbClr val="17191E"/>
          </a:solidFill>
          <a:ln w="12700">
            <a:solidFill>
              <a:srgbClr val="2A2E3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3090672"/>
            <a:ext cx="420624" cy="420624"/>
          </a:xfrm>
          <a:prstGeom prst="ellipse">
            <a:avLst/>
          </a:prstGeom>
          <a:solidFill>
            <a:srgbClr val="E2B33C"/>
          </a:solidFill>
          <a:ln w="12700">
            <a:solidFill>
              <a:srgbClr val="E2B3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508760" y="3090672"/>
            <a:ext cx="4175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products alive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508760" y="3566160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missed last-time buy ends a product line. Nobody meant to miss it. They just couldn't work it out in time.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3008" y="2834640"/>
            <a:ext cx="5318608" cy="1353312"/>
          </a:xfrm>
          <a:prstGeom prst="roundRect">
            <a:avLst>
              <a:gd name="adj" fmla="val 8108"/>
            </a:avLst>
          </a:prstGeom>
          <a:solidFill>
            <a:srgbClr val="17191E"/>
          </a:solidFill>
          <a:ln w="12700">
            <a:solidFill>
              <a:srgbClr val="2A2E3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07328" y="3090672"/>
            <a:ext cx="420624" cy="420624"/>
          </a:xfrm>
          <a:prstGeom prst="ellipse">
            <a:avLst/>
          </a:prstGeom>
          <a:solidFill>
            <a:srgbClr val="E2B33C"/>
          </a:solidFill>
          <a:ln w="12700">
            <a:solidFill>
              <a:srgbClr val="E2B3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07328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101688" y="3090672"/>
            <a:ext cx="4175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only for big firms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101688" y="3566160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hundredth of a cent a notice, and your own spreadsheet is the input. No licence, no data migration.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4370832"/>
            <a:ext cx="5318608" cy="1353312"/>
          </a:xfrm>
          <a:prstGeom prst="roundRect">
            <a:avLst>
              <a:gd name="adj" fmla="val 8108"/>
            </a:avLst>
          </a:prstGeom>
          <a:solidFill>
            <a:srgbClr val="17191E"/>
          </a:solidFill>
          <a:ln w="12700">
            <a:solidFill>
              <a:srgbClr val="2A2E3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4400" y="4626864"/>
            <a:ext cx="420624" cy="420624"/>
          </a:xfrm>
          <a:prstGeom prst="ellipse">
            <a:avLst/>
          </a:prstGeom>
          <a:solidFill>
            <a:srgbClr val="E2B33C"/>
          </a:solidFill>
          <a:ln w="12700">
            <a:solidFill>
              <a:srgbClr val="E2B33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4626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508760" y="4626864"/>
            <a:ext cx="4175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you can check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508760" y="5102352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is arithmetic over your bill of materials. Nobody should sign a €1.4M order on a model's word.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33008" y="4370832"/>
            <a:ext cx="5318608" cy="1353312"/>
          </a:xfrm>
          <a:prstGeom prst="roundRect">
            <a:avLst>
              <a:gd name="adj" fmla="val 8108"/>
            </a:avLst>
          </a:prstGeom>
          <a:solidFill>
            <a:srgbClr val="17191E"/>
          </a:solidFill>
          <a:ln w="12700">
            <a:solidFill>
              <a:srgbClr val="2A2E3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07328" y="4626864"/>
            <a:ext cx="420624" cy="420624"/>
          </a:xfrm>
          <a:prstGeom prst="ellipse">
            <a:avLst/>
          </a:prstGeom>
          <a:solidFill>
            <a:srgbClr val="E2B33C"/>
          </a:solidFill>
          <a:ln w="12700">
            <a:solidFill>
              <a:srgbClr val="E2B33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7328" y="4626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101688" y="4626864"/>
            <a:ext cx="4175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thrown away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101688" y="5102352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the quantity the maths gives you, not the panic order that gets scrapped three years later.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008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DB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9AA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D6DB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9AA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D6DB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0454335" y="6419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LastBuy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LastBuy</dc:title>
  <dc:subject>PptxGenJS Presentation</dc:subject>
  <dc:creator>Hamza Bukhari</dc:creator>
  <cp:lastModifiedBy>Hamza Bukhari</cp:lastModifiedBy>
  <cp:revision>1</cp:revision>
  <dcterms:created xsi:type="dcterms:W3CDTF">2026-10-17T05:53:19Z</dcterms:created>
  <dcterms:modified xsi:type="dcterms:W3CDTF">2026-10-17T05:53:19Z</dcterms:modified>
</cp:coreProperties>
</file>