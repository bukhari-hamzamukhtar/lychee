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77240" y="1965960"/>
            <a:ext cx="6400800" cy="822960"/>
          </a:xfrm>
          <a:prstGeom prst="rect">
            <a:avLst/>
          </a:prstGeom>
          <a:noFill/>
          <a:ln/>
        </p:spPr>
        <p:txBody>
          <a:bodyPr wrap="square" rtlCol="0" anchor="ctr"/>
          <a:lstStyle/>
          <a:p>
            <a:pPr indent="0" marL="0">
              <a:buNone/>
            </a:pPr>
            <a:r>
              <a:rPr lang="en-US" sz="4600" b="1" dirty="0">
                <a:solidFill>
                  <a:srgbClr val="F6F7F9"/>
                </a:solidFill>
                <a:latin typeface="Arial" pitchFamily="34" charset="0"/>
                <a:ea typeface="Arial" pitchFamily="34" charset="-122"/>
                <a:cs typeface="Arial" pitchFamily="34" charset="-120"/>
              </a:rPr>
              <a:t>LastBuy</a:t>
            </a:r>
            <a:endParaRPr lang="en-US" sz="4600" dirty="0"/>
          </a:p>
        </p:txBody>
      </p:sp>
      <p:sp>
        <p:nvSpPr>
          <p:cNvPr id="3" name="Text 1"/>
          <p:cNvSpPr/>
          <p:nvPr/>
        </p:nvSpPr>
        <p:spPr>
          <a:xfrm>
            <a:off x="777240" y="2880360"/>
            <a:ext cx="7863840" cy="1554480"/>
          </a:xfrm>
          <a:prstGeom prst="rect">
            <a:avLst/>
          </a:prstGeom>
          <a:noFill/>
          <a:ln/>
        </p:spPr>
        <p:txBody>
          <a:bodyPr wrap="square" rtlCol="0" anchor="ctr"/>
          <a:lstStyle/>
          <a:p>
            <a:pPr indent="0" marL="0">
              <a:lnSpc>
                <a:spcPct val="122000"/>
              </a:lnSpc>
              <a:buNone/>
            </a:pPr>
            <a:r>
              <a:rPr lang="en-US" sz="2700" dirty="0">
                <a:solidFill>
                  <a:srgbClr val="F6F7F9"/>
                </a:solidFill>
                <a:latin typeface="Arial" pitchFamily="34" charset="0"/>
                <a:ea typeface="Arial" pitchFamily="34" charset="-122"/>
                <a:cs typeface="Arial" pitchFamily="34" charset="-120"/>
              </a:rPr>
              <a:t>Know what a discontinued part costs you </a:t>
            </a:r>
            <a:pPr indent="0" marL="0">
              <a:lnSpc>
                <a:spcPct val="122000"/>
              </a:lnSpc>
              <a:buNone/>
            </a:pPr>
            <a:r>
              <a:rPr lang="en-US" sz="2700" dirty="0">
                <a:solidFill>
                  <a:srgbClr val="FF5A3D"/>
                </a:solidFill>
                <a:latin typeface="Arial" pitchFamily="34" charset="0"/>
                <a:ea typeface="Arial" pitchFamily="34" charset="-122"/>
                <a:cs typeface="Arial" pitchFamily="34" charset="-120"/>
              </a:rPr>
              <a:t>before the window shuts.</a:t>
            </a:r>
            <a:endParaRPr lang="en-US" sz="2700" dirty="0"/>
          </a:p>
        </p:txBody>
      </p:sp>
      <p:sp>
        <p:nvSpPr>
          <p:cNvPr id="4" name="Text 2"/>
          <p:cNvSpPr/>
          <p:nvPr/>
        </p:nvSpPr>
        <p:spPr>
          <a:xfrm>
            <a:off x="777240" y="4846320"/>
            <a:ext cx="10058400" cy="274320"/>
          </a:xfrm>
          <a:prstGeom prst="rect">
            <a:avLst/>
          </a:prstGeom>
          <a:noFill/>
          <a:ln/>
        </p:spPr>
        <p:txBody>
          <a:bodyPr wrap="square" rtlCol="0" anchor="ctr"/>
          <a:lstStyle/>
          <a:p>
            <a:pPr indent="0" marL="0">
              <a:buNone/>
            </a:pPr>
            <a:r>
              <a:rPr lang="en-US" sz="1300" dirty="0">
                <a:solidFill>
                  <a:srgbClr val="B2BBC5"/>
                </a:solidFill>
                <a:latin typeface="Arial" pitchFamily="34" charset="0"/>
                <a:ea typeface="Arial" pitchFamily="34" charset="-122"/>
                <a:cs typeface="Arial" pitchFamily="34" charset="-120"/>
              </a:rPr>
              <a:t>AMD Developer Hackathon: ACT III   ·   Intelligent Industry   ·   Hamza Mukhtar Bukhari</a:t>
            </a:r>
            <a:endParaRPr lang="en-US" sz="1300" dirty="0"/>
          </a:p>
        </p:txBody>
      </p:sp>
      <p:sp>
        <p:nvSpPr>
          <p:cNvPr id="5" name="Shape 3"/>
          <p:cNvSpPr/>
          <p:nvPr/>
        </p:nvSpPr>
        <p:spPr>
          <a:xfrm>
            <a:off x="777240" y="5394960"/>
            <a:ext cx="4754880" cy="10973"/>
          </a:xfrm>
          <a:prstGeom prst="rect">
            <a:avLst/>
          </a:prstGeom>
          <a:solidFill>
            <a:srgbClr val="262A31"/>
          </a:solidFill>
          <a:ln w="12700">
            <a:solidFill>
              <a:srgbClr val="333333"/>
            </a:solidFill>
            <a:prstDash val="solid"/>
          </a:ln>
        </p:spPr>
      </p:sp>
      <p:sp>
        <p:nvSpPr>
          <p:cNvPr id="6" name="Text 4"/>
          <p:cNvSpPr/>
          <p:nvPr/>
        </p:nvSpPr>
        <p:spPr>
          <a:xfrm>
            <a:off x="777240" y="5577840"/>
            <a:ext cx="10607040" cy="274320"/>
          </a:xfrm>
          <a:prstGeom prst="rect">
            <a:avLst/>
          </a:prstGeom>
          <a:noFill/>
          <a:ln/>
        </p:spPr>
        <p:txBody>
          <a:bodyPr wrap="square" rtlCol="0" anchor="ctr"/>
          <a:lstStyle/>
          <a:p>
            <a:pPr indent="0" marL="0">
              <a:buNone/>
            </a:pPr>
            <a:r>
              <a:rPr lang="en-US" sz="1100" dirty="0">
                <a:solidFill>
                  <a:srgbClr val="D6DBE2"/>
                </a:solidFill>
                <a:latin typeface="Consolas" pitchFamily="34" charset="0"/>
                <a:ea typeface="Consolas" pitchFamily="34" charset="-122"/>
                <a:cs typeface="Consolas" pitchFamily="34" charset="-120"/>
              </a:rPr>
              <a:t>Gemma-4-31B-IT on AMD Instinct   ·   Evolus workspace lychee   ·   lychee-seven.vercel.app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777240" y="960120"/>
            <a:ext cx="6400800" cy="1188720"/>
          </a:xfrm>
          <a:prstGeom prst="rect">
            <a:avLst/>
          </a:prstGeom>
          <a:noFill/>
          <a:ln/>
        </p:spPr>
        <p:txBody>
          <a:bodyPr wrap="square" rtlCol="0" anchor="ctr"/>
          <a:lstStyle/>
          <a:p>
            <a:pPr indent="0" marL="0">
              <a:lnSpc>
                <a:spcPct val="114000"/>
              </a:lnSpc>
              <a:buNone/>
            </a:pPr>
            <a:r>
              <a:rPr lang="en-US" sz="3000" b="1" dirty="0">
                <a:solidFill>
                  <a:srgbClr val="111317"/>
                </a:solidFill>
                <a:latin typeface="Arial" pitchFamily="34" charset="0"/>
                <a:ea typeface="Arial" pitchFamily="34" charset="-122"/>
                <a:cs typeface="Arial" pitchFamily="34" charset="-120"/>
              </a:rPr>
              <a:t>A letter arrives. Your part is dead in 34 days.</a:t>
            </a:r>
            <a:endParaRPr lang="en-US" sz="3000" dirty="0"/>
          </a:p>
        </p:txBody>
      </p:sp>
      <p:sp>
        <p:nvSpPr>
          <p:cNvPr id="4" name="Text 2"/>
          <p:cNvSpPr/>
          <p:nvPr/>
        </p:nvSpPr>
        <p:spPr>
          <a:xfrm>
            <a:off x="777240" y="2331720"/>
            <a:ext cx="5760720" cy="1097280"/>
          </a:xfrm>
          <a:prstGeom prst="rect">
            <a:avLst/>
          </a:prstGeom>
          <a:noFill/>
          <a:ln/>
        </p:spPr>
        <p:txBody>
          <a:bodyPr wrap="square" rtlCol="0" anchor="ctr"/>
          <a:lstStyle/>
          <a:p>
            <a:pPr indent="0" marL="0">
              <a:lnSpc>
                <a:spcPct val="135000"/>
              </a:lnSpc>
              <a:buNone/>
            </a:pPr>
            <a:r>
              <a:rPr lang="en-US" sz="1500" dirty="0">
                <a:solidFill>
                  <a:srgbClr val="373D47"/>
                </a:solidFill>
                <a:latin typeface="Arial" pitchFamily="34" charset="0"/>
                <a:ea typeface="Arial" pitchFamily="34" charset="-122"/>
                <a:cs typeface="Arial" pitchFamily="34" charset="-120"/>
              </a:rPr>
              <a:t>Someone now has to work out which products use it, which customers are under contract, which certificates re-open, and how many to buy before the door shuts.</a:t>
            </a:r>
            <a:endParaRPr lang="en-US" sz="1500" dirty="0"/>
          </a:p>
        </p:txBody>
      </p:sp>
      <p:sp>
        <p:nvSpPr>
          <p:cNvPr id="5" name="Text 3"/>
          <p:cNvSpPr/>
          <p:nvPr/>
        </p:nvSpPr>
        <p:spPr>
          <a:xfrm>
            <a:off x="777240" y="3520440"/>
            <a:ext cx="5760720" cy="822960"/>
          </a:xfrm>
          <a:prstGeom prst="rect">
            <a:avLst/>
          </a:prstGeom>
          <a:noFill/>
          <a:ln/>
        </p:spPr>
        <p:txBody>
          <a:bodyPr wrap="square" rtlCol="0" anchor="ctr"/>
          <a:lstStyle/>
          <a:p>
            <a:pPr indent="0" marL="0">
              <a:lnSpc>
                <a:spcPct val="135000"/>
              </a:lnSpc>
              <a:buNone/>
            </a:pPr>
            <a:r>
              <a:rPr lang="en-US" sz="1500" dirty="0">
                <a:solidFill>
                  <a:srgbClr val="111317"/>
                </a:solidFill>
                <a:latin typeface="Arial" pitchFamily="34" charset="0"/>
                <a:ea typeface="Arial" pitchFamily="34" charset="-122"/>
                <a:cs typeface="Arial" pitchFamily="34" charset="-120"/>
              </a:rPr>
              <a:t>Miss the date and the part is gone for good. You redesign the product, or you stop building it.</a:t>
            </a:r>
            <a:endParaRPr lang="en-US" sz="1500" dirty="0"/>
          </a:p>
        </p:txBody>
      </p:sp>
      <p:sp>
        <p:nvSpPr>
          <p:cNvPr id="6" name="Shape 4"/>
          <p:cNvSpPr/>
          <p:nvPr/>
        </p:nvSpPr>
        <p:spPr>
          <a:xfrm>
            <a:off x="7315200" y="1097280"/>
            <a:ext cx="4114800" cy="10973"/>
          </a:xfrm>
          <a:prstGeom prst="rect">
            <a:avLst/>
          </a:prstGeom>
          <a:solidFill>
            <a:srgbClr val="DFE1E5"/>
          </a:solidFill>
          <a:ln w="12700">
            <a:solidFill>
              <a:srgbClr val="333333"/>
            </a:solidFill>
            <a:prstDash val="solid"/>
          </a:ln>
        </p:spPr>
      </p:sp>
      <p:sp>
        <p:nvSpPr>
          <p:cNvPr id="7" name="Text 5"/>
          <p:cNvSpPr/>
          <p:nvPr/>
        </p:nvSpPr>
        <p:spPr>
          <a:xfrm>
            <a:off x="7315200" y="1280160"/>
            <a:ext cx="4114800" cy="731520"/>
          </a:xfrm>
          <a:prstGeom prst="rect">
            <a:avLst/>
          </a:prstGeom>
          <a:noFill/>
          <a:ln/>
        </p:spPr>
        <p:txBody>
          <a:bodyPr wrap="square" rtlCol="0" anchor="ctr"/>
          <a:lstStyle/>
          <a:p>
            <a:pPr indent="0" marL="0">
              <a:buNone/>
            </a:pPr>
            <a:r>
              <a:rPr lang="en-US" sz="4000" b="1" dirty="0">
                <a:solidFill>
                  <a:srgbClr val="111317"/>
                </a:solidFill>
                <a:latin typeface="Arial" pitchFamily="34" charset="0"/>
                <a:ea typeface="Arial" pitchFamily="34" charset="-122"/>
                <a:cs typeface="Arial" pitchFamily="34" charset="-120"/>
              </a:rPr>
              <a:t>Days</a:t>
            </a:r>
            <a:endParaRPr lang="en-US" sz="4000" dirty="0"/>
          </a:p>
        </p:txBody>
      </p:sp>
      <p:sp>
        <p:nvSpPr>
          <p:cNvPr id="8" name="Text 6"/>
          <p:cNvSpPr/>
          <p:nvPr/>
        </p:nvSpPr>
        <p:spPr>
          <a:xfrm>
            <a:off x="7315200" y="2029968"/>
            <a:ext cx="411480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to work one notice out by hand</a:t>
            </a:r>
            <a:endParaRPr lang="en-US" sz="1250" dirty="0"/>
          </a:p>
        </p:txBody>
      </p:sp>
      <p:sp>
        <p:nvSpPr>
          <p:cNvPr id="9" name="Shape 7"/>
          <p:cNvSpPr/>
          <p:nvPr/>
        </p:nvSpPr>
        <p:spPr>
          <a:xfrm>
            <a:off x="7315200" y="2788920"/>
            <a:ext cx="4114800" cy="10973"/>
          </a:xfrm>
          <a:prstGeom prst="rect">
            <a:avLst/>
          </a:prstGeom>
          <a:solidFill>
            <a:srgbClr val="DFE1E5"/>
          </a:solidFill>
          <a:ln w="12700">
            <a:solidFill>
              <a:srgbClr val="333333"/>
            </a:solidFill>
            <a:prstDash val="solid"/>
          </a:ln>
        </p:spPr>
      </p:sp>
      <p:sp>
        <p:nvSpPr>
          <p:cNvPr id="10" name="Text 8"/>
          <p:cNvSpPr/>
          <p:nvPr/>
        </p:nvSpPr>
        <p:spPr>
          <a:xfrm>
            <a:off x="7315200" y="2971800"/>
            <a:ext cx="4114800" cy="731520"/>
          </a:xfrm>
          <a:prstGeom prst="rect">
            <a:avLst/>
          </a:prstGeom>
          <a:noFill/>
          <a:ln/>
        </p:spPr>
        <p:txBody>
          <a:bodyPr wrap="square" rtlCol="0" anchor="ctr"/>
          <a:lstStyle/>
          <a:p>
            <a:pPr indent="0" marL="0">
              <a:buNone/>
            </a:pPr>
            <a:r>
              <a:rPr lang="en-US" sz="4000" b="1" dirty="0">
                <a:solidFill>
                  <a:srgbClr val="111317"/>
                </a:solidFill>
                <a:latin typeface="Arial" pitchFamily="34" charset="0"/>
                <a:ea typeface="Arial" pitchFamily="34" charset="-122"/>
                <a:cs typeface="Arial" pitchFamily="34" charset="-120"/>
              </a:rPr>
              <a:t>3</a:t>
            </a:r>
            <a:endParaRPr lang="en-US" sz="4000" dirty="0"/>
          </a:p>
        </p:txBody>
      </p:sp>
      <p:sp>
        <p:nvSpPr>
          <p:cNvPr id="11" name="Text 9"/>
          <p:cNvSpPr/>
          <p:nvPr/>
        </p:nvSpPr>
        <p:spPr>
          <a:xfrm>
            <a:off x="7315200" y="3721608"/>
            <a:ext cx="411480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people usually pulled in</a:t>
            </a:r>
            <a:endParaRPr lang="en-US" sz="1250" dirty="0"/>
          </a:p>
        </p:txBody>
      </p:sp>
      <p:sp>
        <p:nvSpPr>
          <p:cNvPr id="12" name="Shape 10"/>
          <p:cNvSpPr/>
          <p:nvPr/>
        </p:nvSpPr>
        <p:spPr>
          <a:xfrm>
            <a:off x="7315200" y="4480560"/>
            <a:ext cx="4114800" cy="10973"/>
          </a:xfrm>
          <a:prstGeom prst="rect">
            <a:avLst/>
          </a:prstGeom>
          <a:solidFill>
            <a:srgbClr val="DFE1E5"/>
          </a:solidFill>
          <a:ln w="12700">
            <a:solidFill>
              <a:srgbClr val="333333"/>
            </a:solidFill>
            <a:prstDash val="solid"/>
          </a:ln>
        </p:spPr>
      </p:sp>
      <p:sp>
        <p:nvSpPr>
          <p:cNvPr id="13" name="Text 11"/>
          <p:cNvSpPr/>
          <p:nvPr/>
        </p:nvSpPr>
        <p:spPr>
          <a:xfrm>
            <a:off x="7315200" y="4663440"/>
            <a:ext cx="4114800" cy="731520"/>
          </a:xfrm>
          <a:prstGeom prst="rect">
            <a:avLst/>
          </a:prstGeom>
          <a:noFill/>
          <a:ln/>
        </p:spPr>
        <p:txBody>
          <a:bodyPr wrap="square" rtlCol="0" anchor="ctr"/>
          <a:lstStyle/>
          <a:p>
            <a:pPr indent="0" marL="0">
              <a:buNone/>
            </a:pPr>
            <a:r>
              <a:rPr lang="en-US" sz="4000" b="1" dirty="0">
                <a:solidFill>
                  <a:srgbClr val="D62D12"/>
                </a:solidFill>
                <a:latin typeface="Arial" pitchFamily="34" charset="0"/>
                <a:ea typeface="Arial" pitchFamily="34" charset="-122"/>
                <a:cs typeface="Arial" pitchFamily="34" charset="-120"/>
              </a:rPr>
              <a:t>0</a:t>
            </a:r>
            <a:endParaRPr lang="en-US" sz="4000" dirty="0"/>
          </a:p>
        </p:txBody>
      </p:sp>
      <p:sp>
        <p:nvSpPr>
          <p:cNvPr id="14" name="Text 12"/>
          <p:cNvSpPr/>
          <p:nvPr/>
        </p:nvSpPr>
        <p:spPr>
          <a:xfrm>
            <a:off x="7315200" y="5413248"/>
            <a:ext cx="411480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chances to buy it again afterwards</a:t>
            </a:r>
            <a:endParaRPr lang="en-US" sz="1250" dirty="0"/>
          </a:p>
        </p:txBody>
      </p:sp>
      <p:sp>
        <p:nvSpPr>
          <p:cNvPr id="15" name="Shape 13"/>
          <p:cNvSpPr/>
          <p:nvPr/>
        </p:nvSpPr>
        <p:spPr>
          <a:xfrm>
            <a:off x="777240" y="5998464"/>
            <a:ext cx="10637215" cy="10973"/>
          </a:xfrm>
          <a:prstGeom prst="rect">
            <a:avLst/>
          </a:prstGeom>
          <a:solidFill>
            <a:srgbClr val="DFE1E5"/>
          </a:solidFill>
          <a:ln w="12700">
            <a:solidFill>
              <a:srgbClr val="333333"/>
            </a:solidFill>
            <a:prstDash val="solid"/>
          </a:ln>
        </p:spPr>
      </p:sp>
      <p:sp>
        <p:nvSpPr>
          <p:cNvPr id="16" name="Text 14"/>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17" name="Text 15"/>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18" name="Text 16"/>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19" name="Text 17"/>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20" name="Text 18"/>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21" name="Text 19"/>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22" name="Text 20"/>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23" name="Text 21"/>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WHAT IT DOES</a:t>
            </a:r>
            <a:endParaRPr lang="en-US" sz="1100" dirty="0"/>
          </a:p>
        </p:txBody>
      </p:sp>
      <p:sp>
        <p:nvSpPr>
          <p:cNvPr id="3" name="Text 1"/>
          <p:cNvSpPr/>
          <p:nvPr/>
        </p:nvSpPr>
        <p:spPr>
          <a:xfrm>
            <a:off x="777240" y="914400"/>
            <a:ext cx="5669280" cy="731520"/>
          </a:xfrm>
          <a:prstGeom prst="rect">
            <a:avLst/>
          </a:prstGeom>
          <a:noFill/>
          <a:ln/>
        </p:spPr>
        <p:txBody>
          <a:bodyPr wrap="square" rtlCol="0" anchor="ctr"/>
          <a:lstStyle/>
          <a:p>
            <a:pPr indent="0" marL="0">
              <a:buNone/>
            </a:pPr>
            <a:r>
              <a:rPr lang="en-US" sz="2800" b="1" dirty="0">
                <a:solidFill>
                  <a:srgbClr val="111317"/>
                </a:solidFill>
                <a:latin typeface="Arial" pitchFamily="34" charset="0"/>
                <a:ea typeface="Arial" pitchFamily="34" charset="-122"/>
                <a:cs typeface="Arial" pitchFamily="34" charset="-120"/>
              </a:rPr>
              <a:t>Drop the letter in. Get the damage.</a:t>
            </a:r>
            <a:endParaRPr lang="en-US" sz="2800" dirty="0"/>
          </a:p>
        </p:txBody>
      </p:sp>
      <p:sp>
        <p:nvSpPr>
          <p:cNvPr id="4" name="Shape 2"/>
          <p:cNvSpPr/>
          <p:nvPr/>
        </p:nvSpPr>
        <p:spPr>
          <a:xfrm>
            <a:off x="777240" y="1700784"/>
            <a:ext cx="5943600" cy="10973"/>
          </a:xfrm>
          <a:prstGeom prst="rect">
            <a:avLst/>
          </a:prstGeom>
          <a:solidFill>
            <a:srgbClr val="DFE1E5"/>
          </a:solidFill>
          <a:ln w="12700">
            <a:solidFill>
              <a:srgbClr val="333333"/>
            </a:solidFill>
            <a:prstDash val="solid"/>
          </a:ln>
        </p:spPr>
      </p:sp>
      <p:sp>
        <p:nvSpPr>
          <p:cNvPr id="5" name="Text 3"/>
          <p:cNvSpPr/>
          <p:nvPr/>
        </p:nvSpPr>
        <p:spPr>
          <a:xfrm>
            <a:off x="777240" y="1828800"/>
            <a:ext cx="2743200" cy="274320"/>
          </a:xfrm>
          <a:prstGeom prst="rect">
            <a:avLst/>
          </a:prstGeom>
          <a:noFill/>
          <a:ln/>
        </p:spPr>
        <p:txBody>
          <a:bodyPr wrap="square" rtlCol="0" anchor="ctr"/>
          <a:lstStyle/>
          <a:p>
            <a:pPr indent="0" marL="0">
              <a:buNone/>
            </a:pPr>
            <a:r>
              <a:rPr lang="en-US" sz="1500" b="1" dirty="0">
                <a:solidFill>
                  <a:srgbClr val="111317"/>
                </a:solidFill>
                <a:latin typeface="Arial" pitchFamily="34" charset="0"/>
                <a:ea typeface="Arial" pitchFamily="34" charset="-122"/>
                <a:cs typeface="Arial" pitchFamily="34" charset="-120"/>
              </a:rPr>
              <a:t>Reads any notice</a:t>
            </a:r>
            <a:endParaRPr lang="en-US" sz="1500" dirty="0"/>
          </a:p>
        </p:txBody>
      </p:sp>
      <p:sp>
        <p:nvSpPr>
          <p:cNvPr id="6" name="Text 4"/>
          <p:cNvSpPr/>
          <p:nvPr/>
        </p:nvSpPr>
        <p:spPr>
          <a:xfrm>
            <a:off x="777240" y="2121408"/>
            <a:ext cx="4114800" cy="365760"/>
          </a:xfrm>
          <a:prstGeom prst="rect">
            <a:avLst/>
          </a:prstGeom>
          <a:noFill/>
          <a:ln/>
        </p:spPr>
        <p:txBody>
          <a:bodyPr wrap="square" rtlCol="0" anchor="ctr"/>
          <a:lstStyle/>
          <a:p>
            <a:pPr indent="0" marL="0">
              <a:buNone/>
            </a:pPr>
            <a:r>
              <a:rPr lang="en-US" sz="1200" dirty="0">
                <a:solidFill>
                  <a:srgbClr val="5C636E"/>
                </a:solidFill>
                <a:latin typeface="Arial" pitchFamily="34" charset="0"/>
                <a:ea typeface="Arial" pitchFamily="34" charset="-122"/>
                <a:cs typeface="Arial" pitchFamily="34" charset="-120"/>
              </a:rPr>
              <a:t>A PDF, a scan, a photo. Any language.</a:t>
            </a:r>
            <a:endParaRPr lang="en-US" sz="1200" dirty="0"/>
          </a:p>
        </p:txBody>
      </p:sp>
      <p:sp>
        <p:nvSpPr>
          <p:cNvPr id="7" name="Text 5"/>
          <p:cNvSpPr/>
          <p:nvPr/>
        </p:nvSpPr>
        <p:spPr>
          <a:xfrm>
            <a:off x="4983480" y="1828800"/>
            <a:ext cx="1737360" cy="320040"/>
          </a:xfrm>
          <a:prstGeom prst="rect">
            <a:avLst/>
          </a:prstGeom>
          <a:noFill/>
          <a:ln/>
        </p:spPr>
        <p:txBody>
          <a:bodyPr wrap="square" rtlCol="0" anchor="ctr"/>
          <a:lstStyle/>
          <a:p>
            <a:pPr algn="r" indent="0" marL="0">
              <a:buNone/>
            </a:pPr>
            <a:r>
              <a:rPr lang="en-US" sz="1600" b="1" dirty="0">
                <a:solidFill>
                  <a:srgbClr val="D62D12"/>
                </a:solidFill>
                <a:latin typeface="Arial" pitchFamily="34" charset="0"/>
                <a:ea typeface="Arial" pitchFamily="34" charset="-122"/>
                <a:cs typeface="Arial" pitchFamily="34" charset="-120"/>
              </a:rPr>
              <a:t>27s</a:t>
            </a:r>
            <a:endParaRPr lang="en-US" sz="1600" dirty="0"/>
          </a:p>
        </p:txBody>
      </p:sp>
      <p:sp>
        <p:nvSpPr>
          <p:cNvPr id="8" name="Shape 6"/>
          <p:cNvSpPr/>
          <p:nvPr/>
        </p:nvSpPr>
        <p:spPr>
          <a:xfrm>
            <a:off x="777240" y="2660904"/>
            <a:ext cx="5943600" cy="10973"/>
          </a:xfrm>
          <a:prstGeom prst="rect">
            <a:avLst/>
          </a:prstGeom>
          <a:solidFill>
            <a:srgbClr val="DFE1E5"/>
          </a:solidFill>
          <a:ln w="12700">
            <a:solidFill>
              <a:srgbClr val="333333"/>
            </a:solidFill>
            <a:prstDash val="solid"/>
          </a:ln>
        </p:spPr>
      </p:sp>
      <p:sp>
        <p:nvSpPr>
          <p:cNvPr id="9" name="Text 7"/>
          <p:cNvSpPr/>
          <p:nvPr/>
        </p:nvSpPr>
        <p:spPr>
          <a:xfrm>
            <a:off x="777240" y="2788920"/>
            <a:ext cx="2743200" cy="274320"/>
          </a:xfrm>
          <a:prstGeom prst="rect">
            <a:avLst/>
          </a:prstGeom>
          <a:noFill/>
          <a:ln/>
        </p:spPr>
        <p:txBody>
          <a:bodyPr wrap="square" rtlCol="0" anchor="ctr"/>
          <a:lstStyle/>
          <a:p>
            <a:pPr indent="0" marL="0">
              <a:buNone/>
            </a:pPr>
            <a:r>
              <a:rPr lang="en-US" sz="1500" b="1" dirty="0">
                <a:solidFill>
                  <a:srgbClr val="111317"/>
                </a:solidFill>
                <a:latin typeface="Arial" pitchFamily="34" charset="0"/>
                <a:ea typeface="Arial" pitchFamily="34" charset="-122"/>
                <a:cs typeface="Arial" pitchFamily="34" charset="-120"/>
              </a:rPr>
              <a:t>Traces the part</a:t>
            </a:r>
            <a:endParaRPr lang="en-US" sz="1500" dirty="0"/>
          </a:p>
        </p:txBody>
      </p:sp>
      <p:sp>
        <p:nvSpPr>
          <p:cNvPr id="10" name="Text 8"/>
          <p:cNvSpPr/>
          <p:nvPr/>
        </p:nvSpPr>
        <p:spPr>
          <a:xfrm>
            <a:off x="777240" y="3081528"/>
            <a:ext cx="4114800" cy="365760"/>
          </a:xfrm>
          <a:prstGeom prst="rect">
            <a:avLst/>
          </a:prstGeom>
          <a:noFill/>
          <a:ln/>
        </p:spPr>
        <p:txBody>
          <a:bodyPr wrap="square" rtlCol="0" anchor="ctr"/>
          <a:lstStyle/>
          <a:p>
            <a:pPr indent="0" marL="0">
              <a:buNone/>
            </a:pPr>
            <a:r>
              <a:rPr lang="en-US" sz="1200" dirty="0">
                <a:solidFill>
                  <a:srgbClr val="5C636E"/>
                </a:solidFill>
                <a:latin typeface="Arial" pitchFamily="34" charset="0"/>
                <a:ea typeface="Arial" pitchFamily="34" charset="-122"/>
                <a:cs typeface="Arial" pitchFamily="34" charset="-120"/>
              </a:rPr>
              <a:t>Through your bill of materials, up to every product.</a:t>
            </a:r>
            <a:endParaRPr lang="en-US" sz="1200" dirty="0"/>
          </a:p>
        </p:txBody>
      </p:sp>
      <p:sp>
        <p:nvSpPr>
          <p:cNvPr id="11" name="Text 9"/>
          <p:cNvSpPr/>
          <p:nvPr/>
        </p:nvSpPr>
        <p:spPr>
          <a:xfrm>
            <a:off x="4983480" y="2788920"/>
            <a:ext cx="1737360" cy="320040"/>
          </a:xfrm>
          <a:prstGeom prst="rect">
            <a:avLst/>
          </a:prstGeom>
          <a:noFill/>
          <a:ln/>
        </p:spPr>
        <p:txBody>
          <a:bodyPr wrap="square" rtlCol="0" anchor="ctr"/>
          <a:lstStyle/>
          <a:p>
            <a:pPr algn="r" indent="0" marL="0">
              <a:buNone/>
            </a:pPr>
            <a:r>
              <a:rPr lang="en-US" sz="1600" b="1" dirty="0">
                <a:solidFill>
                  <a:srgbClr val="D62D12"/>
                </a:solidFill>
                <a:latin typeface="Arial" pitchFamily="34" charset="0"/>
                <a:ea typeface="Arial" pitchFamily="34" charset="-122"/>
                <a:cs typeface="Arial" pitchFamily="34" charset="-120"/>
              </a:rPr>
              <a:t>5 products</a:t>
            </a:r>
            <a:endParaRPr lang="en-US" sz="1600" dirty="0"/>
          </a:p>
        </p:txBody>
      </p:sp>
      <p:sp>
        <p:nvSpPr>
          <p:cNvPr id="12" name="Shape 10"/>
          <p:cNvSpPr/>
          <p:nvPr/>
        </p:nvSpPr>
        <p:spPr>
          <a:xfrm>
            <a:off x="777240" y="3621024"/>
            <a:ext cx="5943600" cy="10973"/>
          </a:xfrm>
          <a:prstGeom prst="rect">
            <a:avLst/>
          </a:prstGeom>
          <a:solidFill>
            <a:srgbClr val="DFE1E5"/>
          </a:solidFill>
          <a:ln w="12700">
            <a:solidFill>
              <a:srgbClr val="333333"/>
            </a:solidFill>
            <a:prstDash val="solid"/>
          </a:ln>
        </p:spPr>
      </p:sp>
      <p:sp>
        <p:nvSpPr>
          <p:cNvPr id="13" name="Text 11"/>
          <p:cNvSpPr/>
          <p:nvPr/>
        </p:nvSpPr>
        <p:spPr>
          <a:xfrm>
            <a:off x="777240" y="3749040"/>
            <a:ext cx="2743200" cy="274320"/>
          </a:xfrm>
          <a:prstGeom prst="rect">
            <a:avLst/>
          </a:prstGeom>
          <a:noFill/>
          <a:ln/>
        </p:spPr>
        <p:txBody>
          <a:bodyPr wrap="square" rtlCol="0" anchor="ctr"/>
          <a:lstStyle/>
          <a:p>
            <a:pPr indent="0" marL="0">
              <a:buNone/>
            </a:pPr>
            <a:r>
              <a:rPr lang="en-US" sz="1500" b="1" dirty="0">
                <a:solidFill>
                  <a:srgbClr val="111317"/>
                </a:solidFill>
                <a:latin typeface="Arial" pitchFamily="34" charset="0"/>
                <a:ea typeface="Arial" pitchFamily="34" charset="-122"/>
                <a:cs typeface="Arial" pitchFamily="34" charset="-120"/>
              </a:rPr>
              <a:t>Prices the decision</a:t>
            </a:r>
            <a:endParaRPr lang="en-US" sz="1500" dirty="0"/>
          </a:p>
        </p:txBody>
      </p:sp>
      <p:sp>
        <p:nvSpPr>
          <p:cNvPr id="14" name="Text 12"/>
          <p:cNvSpPr/>
          <p:nvPr/>
        </p:nvSpPr>
        <p:spPr>
          <a:xfrm>
            <a:off x="777240" y="4041648"/>
            <a:ext cx="4114800" cy="365760"/>
          </a:xfrm>
          <a:prstGeom prst="rect">
            <a:avLst/>
          </a:prstGeom>
          <a:noFill/>
          <a:ln/>
        </p:spPr>
        <p:txBody>
          <a:bodyPr wrap="square" rtlCol="0" anchor="ctr"/>
          <a:lstStyle/>
          <a:p>
            <a:pPr indent="0" marL="0">
              <a:buNone/>
            </a:pPr>
            <a:r>
              <a:rPr lang="en-US" sz="1200" dirty="0">
                <a:solidFill>
                  <a:srgbClr val="5C636E"/>
                </a:solidFill>
                <a:latin typeface="Arial" pitchFamily="34" charset="0"/>
                <a:ea typeface="Arial" pitchFamily="34" charset="-122"/>
                <a:cs typeface="Arial" pitchFamily="34" charset="-120"/>
              </a:rPr>
              <a:t>What to buy, what it costs, what it protects.</a:t>
            </a:r>
            <a:endParaRPr lang="en-US" sz="1200" dirty="0"/>
          </a:p>
        </p:txBody>
      </p:sp>
      <p:sp>
        <p:nvSpPr>
          <p:cNvPr id="15" name="Text 13"/>
          <p:cNvSpPr/>
          <p:nvPr/>
        </p:nvSpPr>
        <p:spPr>
          <a:xfrm>
            <a:off x="4983480" y="3749040"/>
            <a:ext cx="1737360" cy="320040"/>
          </a:xfrm>
          <a:prstGeom prst="rect">
            <a:avLst/>
          </a:prstGeom>
          <a:noFill/>
          <a:ln/>
        </p:spPr>
        <p:txBody>
          <a:bodyPr wrap="square" rtlCol="0" anchor="ctr"/>
          <a:lstStyle/>
          <a:p>
            <a:pPr algn="r" indent="0" marL="0">
              <a:buNone/>
            </a:pPr>
            <a:r>
              <a:rPr lang="en-US" sz="1600" b="1" dirty="0">
                <a:solidFill>
                  <a:srgbClr val="D62D12"/>
                </a:solidFill>
                <a:latin typeface="Arial" pitchFamily="34" charset="0"/>
                <a:ea typeface="Arial" pitchFamily="34" charset="-122"/>
                <a:cs typeface="Arial" pitchFamily="34" charset="-120"/>
              </a:rPr>
              <a:t>EUR 1.4M</a:t>
            </a:r>
            <a:endParaRPr lang="en-US" sz="1600" dirty="0"/>
          </a:p>
        </p:txBody>
      </p:sp>
      <p:sp>
        <p:nvSpPr>
          <p:cNvPr id="16" name="Shape 14"/>
          <p:cNvSpPr/>
          <p:nvPr/>
        </p:nvSpPr>
        <p:spPr>
          <a:xfrm>
            <a:off x="777240" y="4581144"/>
            <a:ext cx="5943600" cy="10973"/>
          </a:xfrm>
          <a:prstGeom prst="rect">
            <a:avLst/>
          </a:prstGeom>
          <a:solidFill>
            <a:srgbClr val="DFE1E5"/>
          </a:solidFill>
          <a:ln w="12700">
            <a:solidFill>
              <a:srgbClr val="333333"/>
            </a:solidFill>
            <a:prstDash val="solid"/>
          </a:ln>
        </p:spPr>
      </p:sp>
      <p:sp>
        <p:nvSpPr>
          <p:cNvPr id="17" name="Text 15"/>
          <p:cNvSpPr/>
          <p:nvPr/>
        </p:nvSpPr>
        <p:spPr>
          <a:xfrm>
            <a:off x="777240" y="4709160"/>
            <a:ext cx="2743200" cy="274320"/>
          </a:xfrm>
          <a:prstGeom prst="rect">
            <a:avLst/>
          </a:prstGeom>
          <a:noFill/>
          <a:ln/>
        </p:spPr>
        <p:txBody>
          <a:bodyPr wrap="square" rtlCol="0" anchor="ctr"/>
          <a:lstStyle/>
          <a:p>
            <a:pPr indent="0" marL="0">
              <a:buNone/>
            </a:pPr>
            <a:r>
              <a:rPr lang="en-US" sz="1500" b="1" dirty="0">
                <a:solidFill>
                  <a:srgbClr val="111317"/>
                </a:solidFill>
                <a:latin typeface="Arial" pitchFamily="34" charset="0"/>
                <a:ea typeface="Arial" pitchFamily="34" charset="-122"/>
                <a:cs typeface="Arial" pitchFamily="34" charset="-120"/>
              </a:rPr>
              <a:t>Shows its working</a:t>
            </a:r>
            <a:endParaRPr lang="en-US" sz="1500" dirty="0"/>
          </a:p>
        </p:txBody>
      </p:sp>
      <p:sp>
        <p:nvSpPr>
          <p:cNvPr id="18" name="Text 16"/>
          <p:cNvSpPr/>
          <p:nvPr/>
        </p:nvSpPr>
        <p:spPr>
          <a:xfrm>
            <a:off x="777240" y="5001768"/>
            <a:ext cx="4114800" cy="365760"/>
          </a:xfrm>
          <a:prstGeom prst="rect">
            <a:avLst/>
          </a:prstGeom>
          <a:noFill/>
          <a:ln/>
        </p:spPr>
        <p:txBody>
          <a:bodyPr wrap="square" rtlCol="0" anchor="ctr"/>
          <a:lstStyle/>
          <a:p>
            <a:pPr indent="0" marL="0">
              <a:buNone/>
            </a:pPr>
            <a:r>
              <a:rPr lang="en-US" sz="1200" dirty="0">
                <a:solidFill>
                  <a:srgbClr val="5C636E"/>
                </a:solidFill>
                <a:latin typeface="Arial" pitchFamily="34" charset="0"/>
                <a:ea typeface="Arial" pitchFamily="34" charset="-122"/>
                <a:cs typeface="Arial" pitchFamily="34" charset="-120"/>
              </a:rPr>
              <a:t>Every figure is arithmetic you can replay.</a:t>
            </a:r>
            <a:endParaRPr lang="en-US" sz="1200" dirty="0"/>
          </a:p>
        </p:txBody>
      </p:sp>
      <p:sp>
        <p:nvSpPr>
          <p:cNvPr id="19" name="Text 17"/>
          <p:cNvSpPr/>
          <p:nvPr/>
        </p:nvSpPr>
        <p:spPr>
          <a:xfrm>
            <a:off x="4983480" y="4709160"/>
            <a:ext cx="1737360" cy="320040"/>
          </a:xfrm>
          <a:prstGeom prst="rect">
            <a:avLst/>
          </a:prstGeom>
          <a:noFill/>
          <a:ln/>
        </p:spPr>
        <p:txBody>
          <a:bodyPr wrap="square" rtlCol="0" anchor="ctr"/>
          <a:lstStyle/>
          <a:p>
            <a:pPr algn="r" indent="0" marL="0">
              <a:buNone/>
            </a:pPr>
            <a:r>
              <a:rPr lang="en-US" sz="1600" b="1" dirty="0">
                <a:solidFill>
                  <a:srgbClr val="D62D12"/>
                </a:solidFill>
                <a:latin typeface="Arial" pitchFamily="34" charset="0"/>
                <a:ea typeface="Arial" pitchFamily="34" charset="-122"/>
                <a:cs typeface="Arial" pitchFamily="34" charset="-120"/>
              </a:rPr>
              <a:t>0 guessed</a:t>
            </a:r>
            <a:endParaRPr lang="en-US" sz="1600" dirty="0"/>
          </a:p>
        </p:txBody>
      </p:sp>
      <p:pic>
        <p:nvPicPr>
          <p:cNvPr id="20" name="Image 0" descr="G:\amd-hackathon\lastbuy\submission\screenshots\13-notice-impact.png">    </p:cNvPr>
          <p:cNvPicPr>
            <a:picLocks noChangeAspect="1"/>
          </p:cNvPicPr>
          <p:nvPr/>
        </p:nvPicPr>
        <p:blipFill>
          <a:blip r:embed="rId1"/>
          <a:stretch>
            <a:fillRect/>
          </a:stretch>
        </p:blipFill>
        <p:spPr>
          <a:xfrm>
            <a:off x="7223760" y="960120"/>
            <a:ext cx="4206240" cy="2368296"/>
          </a:xfrm>
          <a:prstGeom prst="rect">
            <a:avLst/>
          </a:prstGeom>
        </p:spPr>
      </p:pic>
      <p:sp>
        <p:nvSpPr>
          <p:cNvPr id="21" name="Text 18"/>
          <p:cNvSpPr/>
          <p:nvPr/>
        </p:nvSpPr>
        <p:spPr>
          <a:xfrm>
            <a:off x="7223760" y="3429000"/>
            <a:ext cx="4206240" cy="274320"/>
          </a:xfrm>
          <a:prstGeom prst="rect">
            <a:avLst/>
          </a:prstGeom>
          <a:noFill/>
          <a:ln/>
        </p:spPr>
        <p:txBody>
          <a:bodyPr wrap="square" rtlCol="0" anchor="ctr"/>
          <a:lstStyle/>
          <a:p>
            <a:pPr indent="0" marL="0">
              <a:buNone/>
            </a:pPr>
            <a:r>
              <a:rPr lang="en-US" sz="1100" dirty="0">
                <a:solidFill>
                  <a:srgbClr val="5C636E"/>
                </a:solidFill>
                <a:latin typeface="Arial" pitchFamily="34" charset="0"/>
                <a:ea typeface="Arial" pitchFamily="34" charset="-122"/>
                <a:cs typeface="Arial" pitchFamily="34" charset="-120"/>
              </a:rPr>
              <a:t>One notice, opened. Everything under it is computed.</a:t>
            </a:r>
            <a:endParaRPr lang="en-US" sz="1100" dirty="0"/>
          </a:p>
        </p:txBody>
      </p:sp>
      <p:sp>
        <p:nvSpPr>
          <p:cNvPr id="22" name="Shape 19"/>
          <p:cNvSpPr/>
          <p:nvPr/>
        </p:nvSpPr>
        <p:spPr>
          <a:xfrm>
            <a:off x="777240" y="5998464"/>
            <a:ext cx="10637215" cy="10973"/>
          </a:xfrm>
          <a:prstGeom prst="rect">
            <a:avLst/>
          </a:prstGeom>
          <a:solidFill>
            <a:srgbClr val="DFE1E5"/>
          </a:solidFill>
          <a:ln w="12700">
            <a:solidFill>
              <a:srgbClr val="333333"/>
            </a:solidFill>
            <a:prstDash val="solid"/>
          </a:ln>
        </p:spPr>
      </p:sp>
      <p:sp>
        <p:nvSpPr>
          <p:cNvPr id="23" name="Text 20"/>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24" name="Text 21"/>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25" name="Text 22"/>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26" name="Text 23"/>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27" name="Text 24"/>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28" name="Text 25"/>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29" name="Text 26"/>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30" name="Text 27"/>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HOW THE NUMBERS ARE MADE</a:t>
            </a:r>
            <a:endParaRPr lang="en-US" sz="1100" dirty="0"/>
          </a:p>
        </p:txBody>
      </p:sp>
      <p:sp>
        <p:nvSpPr>
          <p:cNvPr id="3" name="Text 1"/>
          <p:cNvSpPr/>
          <p:nvPr/>
        </p:nvSpPr>
        <p:spPr>
          <a:xfrm>
            <a:off x="777240" y="914400"/>
            <a:ext cx="6400800" cy="1097280"/>
          </a:xfrm>
          <a:prstGeom prst="rect">
            <a:avLst/>
          </a:prstGeom>
          <a:noFill/>
          <a:ln/>
        </p:spPr>
        <p:txBody>
          <a:bodyPr wrap="square" rtlCol="0" anchor="ctr"/>
          <a:lstStyle/>
          <a:p>
            <a:pPr indent="0" marL="0">
              <a:lnSpc>
                <a:spcPct val="114000"/>
              </a:lnSpc>
              <a:buNone/>
            </a:pPr>
            <a:r>
              <a:rPr lang="en-US" sz="2700" b="1" dirty="0">
                <a:solidFill>
                  <a:srgbClr val="111317"/>
                </a:solidFill>
                <a:latin typeface="Arial" pitchFamily="34" charset="0"/>
                <a:ea typeface="Arial" pitchFamily="34" charset="-122"/>
                <a:cs typeface="Arial" pitchFamily="34" charset="-120"/>
              </a:rPr>
              <a:t>The money is a graph walk. No model touches it.</a:t>
            </a:r>
            <a:endParaRPr lang="en-US" sz="2700" dirty="0"/>
          </a:p>
        </p:txBody>
      </p:sp>
      <p:sp>
        <p:nvSpPr>
          <p:cNvPr id="4" name="Text 2"/>
          <p:cNvSpPr/>
          <p:nvPr/>
        </p:nvSpPr>
        <p:spPr>
          <a:xfrm>
            <a:off x="777240" y="2148840"/>
            <a:ext cx="5029200" cy="1371600"/>
          </a:xfrm>
          <a:prstGeom prst="rect">
            <a:avLst/>
          </a:prstGeom>
          <a:noFill/>
          <a:ln/>
        </p:spPr>
        <p:txBody>
          <a:bodyPr wrap="square" rtlCol="0" anchor="ctr"/>
          <a:lstStyle/>
          <a:p>
            <a:pPr indent="0" marL="0">
              <a:lnSpc>
                <a:spcPct val="135000"/>
              </a:lnSpc>
              <a:buNone/>
            </a:pPr>
            <a:r>
              <a:rPr lang="en-US" sz="1400" dirty="0">
                <a:solidFill>
                  <a:srgbClr val="373D47"/>
                </a:solidFill>
                <a:latin typeface="Arial" pitchFamily="34" charset="0"/>
                <a:ea typeface="Arial" pitchFamily="34" charset="-122"/>
                <a:cs typeface="Arial" pitchFamily="34" charset="-120"/>
              </a:rPr>
              <a:t>One isolator sits under five finished products. We walk the bill of materials from the part up to each of them, multiplying quantities on the way. Ask again and you get the same answer, because it is arithmetic.</a:t>
            </a:r>
            <a:endParaRPr lang="en-US" sz="1400" dirty="0"/>
          </a:p>
        </p:txBody>
      </p:sp>
      <p:sp>
        <p:nvSpPr>
          <p:cNvPr id="5" name="Text 3"/>
          <p:cNvSpPr/>
          <p:nvPr/>
        </p:nvSpPr>
        <p:spPr>
          <a:xfrm>
            <a:off x="777240" y="3611880"/>
            <a:ext cx="5029200" cy="822960"/>
          </a:xfrm>
          <a:prstGeom prst="rect">
            <a:avLst/>
          </a:prstGeom>
          <a:noFill/>
          <a:ln/>
        </p:spPr>
        <p:txBody>
          <a:bodyPr wrap="square" rtlCol="0" anchor="ctr"/>
          <a:lstStyle/>
          <a:p>
            <a:pPr indent="0" marL="0">
              <a:lnSpc>
                <a:spcPct val="135000"/>
              </a:lnSpc>
              <a:buNone/>
            </a:pPr>
            <a:r>
              <a:rPr lang="en-US" sz="1400" dirty="0">
                <a:solidFill>
                  <a:srgbClr val="373D47"/>
                </a:solidFill>
                <a:latin typeface="Arial" pitchFamily="34" charset="0"/>
                <a:ea typeface="Arial" pitchFamily="34" charset="-122"/>
                <a:cs typeface="Arial" pitchFamily="34" charset="-120"/>
              </a:rPr>
              <a:t>Models read documents and write the memo.
</a:t>
            </a:r>
            <a:pPr indent="0" marL="0">
              <a:lnSpc>
                <a:spcPct val="135000"/>
              </a:lnSpc>
              <a:buNone/>
            </a:pPr>
            <a:r>
              <a:rPr lang="en-US" sz="1400" b="1" dirty="0">
                <a:solidFill>
                  <a:srgbClr val="111317"/>
                </a:solidFill>
                <a:latin typeface="Arial" pitchFamily="34" charset="0"/>
                <a:ea typeface="Arial" pitchFamily="34" charset="-122"/>
                <a:cs typeface="Arial" pitchFamily="34" charset="-120"/>
              </a:rPr>
              <a:t>They never make a number you act on.</a:t>
            </a:r>
            <a:endParaRPr lang="en-US" sz="1400" dirty="0"/>
          </a:p>
        </p:txBody>
      </p:sp>
      <p:sp>
        <p:nvSpPr>
          <p:cNvPr id="6" name="Text 4"/>
          <p:cNvSpPr/>
          <p:nvPr/>
        </p:nvSpPr>
        <p:spPr>
          <a:xfrm>
            <a:off x="777240" y="4572000"/>
            <a:ext cx="2194560" cy="731520"/>
          </a:xfrm>
          <a:prstGeom prst="rect">
            <a:avLst/>
          </a:prstGeom>
          <a:noFill/>
          <a:ln/>
        </p:spPr>
        <p:txBody>
          <a:bodyPr wrap="square" rtlCol="0" anchor="ctr"/>
          <a:lstStyle/>
          <a:p>
            <a:pPr indent="0" marL="0">
              <a:buNone/>
            </a:pPr>
            <a:r>
              <a:rPr lang="en-US" sz="3600" b="1" dirty="0">
                <a:solidFill>
                  <a:srgbClr val="111317"/>
                </a:solidFill>
                <a:latin typeface="Arial" pitchFamily="34" charset="0"/>
                <a:ea typeface="Arial" pitchFamily="34" charset="-122"/>
                <a:cs typeface="Arial" pitchFamily="34" charset="-120"/>
              </a:rPr>
              <a:t>5</a:t>
            </a:r>
            <a:endParaRPr lang="en-US" sz="3600" dirty="0"/>
          </a:p>
        </p:txBody>
      </p:sp>
      <p:sp>
        <p:nvSpPr>
          <p:cNvPr id="7" name="Text 5"/>
          <p:cNvSpPr/>
          <p:nvPr/>
        </p:nvSpPr>
        <p:spPr>
          <a:xfrm>
            <a:off x="777240" y="5321808"/>
            <a:ext cx="219456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products it reaches</a:t>
            </a:r>
            <a:endParaRPr lang="en-US" sz="1250" dirty="0"/>
          </a:p>
        </p:txBody>
      </p:sp>
      <p:sp>
        <p:nvSpPr>
          <p:cNvPr id="8" name="Text 6"/>
          <p:cNvSpPr/>
          <p:nvPr/>
        </p:nvSpPr>
        <p:spPr>
          <a:xfrm>
            <a:off x="3154680" y="4572000"/>
            <a:ext cx="2926080" cy="731520"/>
          </a:xfrm>
          <a:prstGeom prst="rect">
            <a:avLst/>
          </a:prstGeom>
          <a:noFill/>
          <a:ln/>
        </p:spPr>
        <p:txBody>
          <a:bodyPr wrap="square" rtlCol="0" anchor="ctr"/>
          <a:lstStyle/>
          <a:p>
            <a:pPr indent="0" marL="0">
              <a:buNone/>
            </a:pPr>
            <a:r>
              <a:rPr lang="en-US" sz="3600" b="1" dirty="0">
                <a:solidFill>
                  <a:srgbClr val="D62D12"/>
                </a:solidFill>
                <a:latin typeface="Arial" pitchFamily="34" charset="0"/>
                <a:ea typeface="Arial" pitchFamily="34" charset="-122"/>
                <a:cs typeface="Arial" pitchFamily="34" charset="-120"/>
              </a:rPr>
              <a:t>EUR 9.05M</a:t>
            </a:r>
            <a:endParaRPr lang="en-US" sz="3600" dirty="0"/>
          </a:p>
        </p:txBody>
      </p:sp>
      <p:sp>
        <p:nvSpPr>
          <p:cNvPr id="9" name="Text 7"/>
          <p:cNvSpPr/>
          <p:nvPr/>
        </p:nvSpPr>
        <p:spPr>
          <a:xfrm>
            <a:off x="3154680" y="5321808"/>
            <a:ext cx="292608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revenue behind them, a year</a:t>
            </a:r>
            <a:endParaRPr lang="en-US" sz="1250" dirty="0"/>
          </a:p>
        </p:txBody>
      </p:sp>
      <p:pic>
        <p:nvPicPr>
          <p:cNvPr id="10" name="Image 0" descr="G:\amd-hackathon\lastbuy\submission\screenshots\01-landing-hero.png">    </p:cNvPr>
          <p:cNvPicPr>
            <a:picLocks noChangeAspect="1"/>
          </p:cNvPicPr>
          <p:nvPr/>
        </p:nvPicPr>
        <p:blipFill>
          <a:blip r:embed="rId1"/>
          <a:stretch>
            <a:fillRect/>
          </a:stretch>
        </p:blipFill>
        <p:spPr>
          <a:xfrm>
            <a:off x="6400800" y="1280160"/>
            <a:ext cx="5029200" cy="2825496"/>
          </a:xfrm>
          <a:prstGeom prst="rect">
            <a:avLst/>
          </a:prstGeom>
        </p:spPr>
      </p:pic>
      <p:sp>
        <p:nvSpPr>
          <p:cNvPr id="11" name="Text 8"/>
          <p:cNvSpPr/>
          <p:nvPr/>
        </p:nvSpPr>
        <p:spPr>
          <a:xfrm>
            <a:off x="6400800" y="4206240"/>
            <a:ext cx="5029200" cy="274320"/>
          </a:xfrm>
          <a:prstGeom prst="rect">
            <a:avLst/>
          </a:prstGeom>
          <a:noFill/>
          <a:ln/>
        </p:spPr>
        <p:txBody>
          <a:bodyPr wrap="square" rtlCol="0" anchor="ctr"/>
          <a:lstStyle/>
          <a:p>
            <a:pPr indent="0" marL="0">
              <a:buNone/>
            </a:pPr>
            <a:r>
              <a:rPr lang="en-US" sz="1100" dirty="0">
                <a:solidFill>
                  <a:srgbClr val="5C636E"/>
                </a:solidFill>
                <a:latin typeface="Arial" pitchFamily="34" charset="0"/>
                <a:ea typeface="Arial" pitchFamily="34" charset="-122"/>
                <a:cs typeface="Arial" pitchFamily="34" charset="-120"/>
              </a:rPr>
              <a:t>The same part, traced on screen.</a:t>
            </a:r>
            <a:endParaRPr lang="en-US" sz="1100" dirty="0"/>
          </a:p>
        </p:txBody>
      </p:sp>
      <p:sp>
        <p:nvSpPr>
          <p:cNvPr id="12" name="Shape 9"/>
          <p:cNvSpPr/>
          <p:nvPr/>
        </p:nvSpPr>
        <p:spPr>
          <a:xfrm>
            <a:off x="777240" y="5998464"/>
            <a:ext cx="10637215" cy="10973"/>
          </a:xfrm>
          <a:prstGeom prst="rect">
            <a:avLst/>
          </a:prstGeom>
          <a:solidFill>
            <a:srgbClr val="DFE1E5"/>
          </a:solidFill>
          <a:ln w="12700">
            <a:solidFill>
              <a:srgbClr val="333333"/>
            </a:solidFill>
            <a:prstDash val="solid"/>
          </a:ln>
        </p:spPr>
      </p:sp>
      <p:sp>
        <p:nvSpPr>
          <p:cNvPr id="13" name="Text 10"/>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14" name="Text 11"/>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15" name="Text 12"/>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16" name="Text 13"/>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17" name="Text 14"/>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18" name="Text 15"/>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19" name="Text 16"/>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20" name="Text 17"/>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ON A REAL DOCUMENT</a:t>
            </a:r>
            <a:endParaRPr lang="en-US" sz="1100" dirty="0"/>
          </a:p>
        </p:txBody>
      </p:sp>
      <p:sp>
        <p:nvSpPr>
          <p:cNvPr id="3" name="Text 1"/>
          <p:cNvSpPr/>
          <p:nvPr/>
        </p:nvSpPr>
        <p:spPr>
          <a:xfrm>
            <a:off x="777240" y="914400"/>
            <a:ext cx="6949440" cy="777240"/>
          </a:xfrm>
          <a:prstGeom prst="rect">
            <a:avLst/>
          </a:prstGeom>
          <a:noFill/>
          <a:ln/>
        </p:spPr>
        <p:txBody>
          <a:bodyPr wrap="square" rtlCol="0" anchor="ctr"/>
          <a:lstStyle/>
          <a:p>
            <a:pPr indent="0" marL="0">
              <a:buNone/>
            </a:pPr>
            <a:r>
              <a:rPr lang="en-US" sz="2700" b="1" dirty="0">
                <a:solidFill>
                  <a:srgbClr val="111317"/>
                </a:solidFill>
                <a:latin typeface="Arial" pitchFamily="34" charset="0"/>
                <a:ea typeface="Arial" pitchFamily="34" charset="-122"/>
                <a:cs typeface="Arial" pitchFamily="34" charset="-120"/>
              </a:rPr>
              <a:t>We tested it on a letter nobody wrote for us.</a:t>
            </a:r>
            <a:endParaRPr lang="en-US" sz="2700" dirty="0"/>
          </a:p>
        </p:txBody>
      </p:sp>
      <p:sp>
        <p:nvSpPr>
          <p:cNvPr id="4" name="Text 2"/>
          <p:cNvSpPr/>
          <p:nvPr/>
        </p:nvSpPr>
        <p:spPr>
          <a:xfrm>
            <a:off x="777240" y="1737360"/>
            <a:ext cx="5669280" cy="914400"/>
          </a:xfrm>
          <a:prstGeom prst="rect">
            <a:avLst/>
          </a:prstGeom>
          <a:noFill/>
          <a:ln/>
        </p:spPr>
        <p:txBody>
          <a:bodyPr wrap="square" rtlCol="0" anchor="ctr"/>
          <a:lstStyle/>
          <a:p>
            <a:pPr indent="0" marL="0">
              <a:lnSpc>
                <a:spcPct val="135000"/>
              </a:lnSpc>
              <a:buNone/>
            </a:pPr>
            <a:r>
              <a:rPr lang="en-US" sz="1400" dirty="0">
                <a:solidFill>
                  <a:srgbClr val="373D47"/>
                </a:solidFill>
                <a:latin typeface="Arial" pitchFamily="34" charset="0"/>
                <a:ea typeface="Arial" pitchFamily="34" charset="-122"/>
                <a:cs typeface="Arial" pitchFamily="34" charset="-120"/>
              </a:rPr>
              <a:t>Hittite Microwave PCN140002 - a real 2014 notice, 488 KB, scanned. It is a form, so we read the form first and only ask a model for what the page does not say.</a:t>
            </a:r>
            <a:endParaRPr lang="en-US" sz="1400" dirty="0"/>
          </a:p>
        </p:txBody>
      </p:sp>
      <p:sp>
        <p:nvSpPr>
          <p:cNvPr id="5" name="Text 3"/>
          <p:cNvSpPr/>
          <p:nvPr/>
        </p:nvSpPr>
        <p:spPr>
          <a:xfrm>
            <a:off x="777240" y="2834640"/>
            <a:ext cx="2194560" cy="274320"/>
          </a:xfrm>
          <a:prstGeom prst="rect">
            <a:avLst/>
          </a:prstGeom>
          <a:noFill/>
          <a:ln/>
        </p:spPr>
        <p:txBody>
          <a:bodyPr wrap="square" rtlCol="0" anchor="ctr"/>
          <a:lstStyle/>
          <a:p>
            <a:pPr indent="0" marL="0">
              <a:buNone/>
            </a:pPr>
            <a:endParaRPr lang="en-US" sz="1250" dirty="0"/>
          </a:p>
        </p:txBody>
      </p:sp>
      <p:sp>
        <p:nvSpPr>
          <p:cNvPr id="6" name="Text 4"/>
          <p:cNvSpPr/>
          <p:nvPr/>
        </p:nvSpPr>
        <p:spPr>
          <a:xfrm>
            <a:off x="2971800" y="2834640"/>
            <a:ext cx="164592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model always</a:t>
            </a:r>
            <a:endParaRPr lang="en-US" sz="1250" dirty="0"/>
          </a:p>
        </p:txBody>
      </p:sp>
      <p:sp>
        <p:nvSpPr>
          <p:cNvPr id="7" name="Text 5"/>
          <p:cNvSpPr/>
          <p:nvPr/>
        </p:nvSpPr>
        <p:spPr>
          <a:xfrm>
            <a:off x="4709160" y="2834640"/>
            <a:ext cx="173736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form first</a:t>
            </a:r>
            <a:endParaRPr lang="en-US" sz="1250" dirty="0"/>
          </a:p>
        </p:txBody>
      </p:sp>
      <p:sp>
        <p:nvSpPr>
          <p:cNvPr id="8" name="Shape 6"/>
          <p:cNvSpPr/>
          <p:nvPr/>
        </p:nvSpPr>
        <p:spPr>
          <a:xfrm>
            <a:off x="777240" y="3127248"/>
            <a:ext cx="5669280" cy="10973"/>
          </a:xfrm>
          <a:prstGeom prst="rect">
            <a:avLst/>
          </a:prstGeom>
          <a:solidFill>
            <a:srgbClr val="DFE1E5"/>
          </a:solidFill>
          <a:ln w="12700">
            <a:solidFill>
              <a:srgbClr val="333333"/>
            </a:solidFill>
            <a:prstDash val="solid"/>
          </a:ln>
        </p:spPr>
      </p:sp>
      <p:sp>
        <p:nvSpPr>
          <p:cNvPr id="9" name="Text 7"/>
          <p:cNvSpPr/>
          <p:nvPr/>
        </p:nvSpPr>
        <p:spPr>
          <a:xfrm>
            <a:off x="777240" y="3218688"/>
            <a:ext cx="2194560" cy="27432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OCR on AMD</a:t>
            </a:r>
            <a:endParaRPr lang="en-US" sz="1250" dirty="0"/>
          </a:p>
        </p:txBody>
      </p:sp>
      <p:sp>
        <p:nvSpPr>
          <p:cNvPr id="10" name="Text 8"/>
          <p:cNvSpPr/>
          <p:nvPr/>
        </p:nvSpPr>
        <p:spPr>
          <a:xfrm>
            <a:off x="2971800" y="3218688"/>
            <a:ext cx="164592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42s</a:t>
            </a:r>
            <a:endParaRPr lang="en-US" sz="1250" dirty="0"/>
          </a:p>
        </p:txBody>
      </p:sp>
      <p:sp>
        <p:nvSpPr>
          <p:cNvPr id="11" name="Text 9"/>
          <p:cNvSpPr/>
          <p:nvPr/>
        </p:nvSpPr>
        <p:spPr>
          <a:xfrm>
            <a:off x="4709160" y="3218688"/>
            <a:ext cx="1737360" cy="274320"/>
          </a:xfrm>
          <a:prstGeom prst="rect">
            <a:avLst/>
          </a:prstGeom>
          <a:noFill/>
          <a:ln/>
        </p:spPr>
        <p:txBody>
          <a:bodyPr wrap="square" rtlCol="0" anchor="ctr"/>
          <a:lstStyle/>
          <a:p>
            <a:pPr algn="r" indent="0" marL="0">
              <a:buNone/>
            </a:pPr>
            <a:r>
              <a:rPr lang="en-US" sz="1250" dirty="0">
                <a:solidFill>
                  <a:srgbClr val="D62D12"/>
                </a:solidFill>
                <a:latin typeface="Arial" pitchFamily="34" charset="0"/>
                <a:ea typeface="Arial" pitchFamily="34" charset="-122"/>
                <a:cs typeface="Arial" pitchFamily="34" charset="-120"/>
              </a:rPr>
              <a:t>27s</a:t>
            </a:r>
            <a:endParaRPr lang="en-US" sz="1250" dirty="0"/>
          </a:p>
        </p:txBody>
      </p:sp>
      <p:sp>
        <p:nvSpPr>
          <p:cNvPr id="12" name="Shape 10"/>
          <p:cNvSpPr/>
          <p:nvPr/>
        </p:nvSpPr>
        <p:spPr>
          <a:xfrm>
            <a:off x="777240" y="3584448"/>
            <a:ext cx="5669280" cy="10973"/>
          </a:xfrm>
          <a:prstGeom prst="rect">
            <a:avLst/>
          </a:prstGeom>
          <a:solidFill>
            <a:srgbClr val="DFE1E5"/>
          </a:solidFill>
          <a:ln w="12700">
            <a:solidFill>
              <a:srgbClr val="333333"/>
            </a:solidFill>
            <a:prstDash val="solid"/>
          </a:ln>
        </p:spPr>
      </p:sp>
      <p:sp>
        <p:nvSpPr>
          <p:cNvPr id="13" name="Text 11"/>
          <p:cNvSpPr/>
          <p:nvPr/>
        </p:nvSpPr>
        <p:spPr>
          <a:xfrm>
            <a:off x="777240" y="3675888"/>
            <a:ext cx="2194560" cy="27432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Evolus extraction</a:t>
            </a:r>
            <a:endParaRPr lang="en-US" sz="1250" dirty="0"/>
          </a:p>
        </p:txBody>
      </p:sp>
      <p:sp>
        <p:nvSpPr>
          <p:cNvPr id="14" name="Text 12"/>
          <p:cNvSpPr/>
          <p:nvPr/>
        </p:nvSpPr>
        <p:spPr>
          <a:xfrm>
            <a:off x="2971800" y="3675888"/>
            <a:ext cx="164592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17s</a:t>
            </a:r>
            <a:endParaRPr lang="en-US" sz="1250" dirty="0"/>
          </a:p>
        </p:txBody>
      </p:sp>
      <p:sp>
        <p:nvSpPr>
          <p:cNvPr id="15" name="Text 13"/>
          <p:cNvSpPr/>
          <p:nvPr/>
        </p:nvSpPr>
        <p:spPr>
          <a:xfrm>
            <a:off x="4709160" y="3675888"/>
            <a:ext cx="1737360" cy="274320"/>
          </a:xfrm>
          <a:prstGeom prst="rect">
            <a:avLst/>
          </a:prstGeom>
          <a:noFill/>
          <a:ln/>
        </p:spPr>
        <p:txBody>
          <a:bodyPr wrap="square" rtlCol="0" anchor="ctr"/>
          <a:lstStyle/>
          <a:p>
            <a:pPr algn="r" indent="0" marL="0">
              <a:buNone/>
            </a:pPr>
            <a:r>
              <a:rPr lang="en-US" sz="1250" dirty="0">
                <a:solidFill>
                  <a:srgbClr val="D62D12"/>
                </a:solidFill>
                <a:latin typeface="Arial" pitchFamily="34" charset="0"/>
                <a:ea typeface="Arial" pitchFamily="34" charset="-122"/>
                <a:cs typeface="Arial" pitchFamily="34" charset="-120"/>
              </a:rPr>
              <a:t>skipped</a:t>
            </a:r>
            <a:endParaRPr lang="en-US" sz="1250" dirty="0"/>
          </a:p>
        </p:txBody>
      </p:sp>
      <p:sp>
        <p:nvSpPr>
          <p:cNvPr id="16" name="Shape 14"/>
          <p:cNvSpPr/>
          <p:nvPr/>
        </p:nvSpPr>
        <p:spPr>
          <a:xfrm>
            <a:off x="777240" y="4041648"/>
            <a:ext cx="5669280" cy="10973"/>
          </a:xfrm>
          <a:prstGeom prst="rect">
            <a:avLst/>
          </a:prstGeom>
          <a:solidFill>
            <a:srgbClr val="DFE1E5"/>
          </a:solidFill>
          <a:ln w="12700">
            <a:solidFill>
              <a:srgbClr val="333333"/>
            </a:solidFill>
            <a:prstDash val="solid"/>
          </a:ln>
        </p:spPr>
      </p:sp>
      <p:sp>
        <p:nvSpPr>
          <p:cNvPr id="17" name="Text 15"/>
          <p:cNvSpPr/>
          <p:nvPr/>
        </p:nvSpPr>
        <p:spPr>
          <a:xfrm>
            <a:off x="777240" y="4133088"/>
            <a:ext cx="2194560" cy="27432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Model normalisation</a:t>
            </a:r>
            <a:endParaRPr lang="en-US" sz="1250" dirty="0"/>
          </a:p>
        </p:txBody>
      </p:sp>
      <p:sp>
        <p:nvSpPr>
          <p:cNvPr id="18" name="Text 16"/>
          <p:cNvSpPr/>
          <p:nvPr/>
        </p:nvSpPr>
        <p:spPr>
          <a:xfrm>
            <a:off x="2971800" y="4133088"/>
            <a:ext cx="164592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103s</a:t>
            </a:r>
            <a:endParaRPr lang="en-US" sz="1250" dirty="0"/>
          </a:p>
        </p:txBody>
      </p:sp>
      <p:sp>
        <p:nvSpPr>
          <p:cNvPr id="19" name="Text 17"/>
          <p:cNvSpPr/>
          <p:nvPr/>
        </p:nvSpPr>
        <p:spPr>
          <a:xfrm>
            <a:off x="4709160" y="4133088"/>
            <a:ext cx="1737360" cy="274320"/>
          </a:xfrm>
          <a:prstGeom prst="rect">
            <a:avLst/>
          </a:prstGeom>
          <a:noFill/>
          <a:ln/>
        </p:spPr>
        <p:txBody>
          <a:bodyPr wrap="square" rtlCol="0" anchor="ctr"/>
          <a:lstStyle/>
          <a:p>
            <a:pPr algn="r" indent="0" marL="0">
              <a:buNone/>
            </a:pPr>
            <a:r>
              <a:rPr lang="en-US" sz="1250" dirty="0">
                <a:solidFill>
                  <a:srgbClr val="D62D12"/>
                </a:solidFill>
                <a:latin typeface="Arial" pitchFamily="34" charset="0"/>
                <a:ea typeface="Arial" pitchFamily="34" charset="-122"/>
                <a:cs typeface="Arial" pitchFamily="34" charset="-120"/>
              </a:rPr>
              <a:t>skipped</a:t>
            </a:r>
            <a:endParaRPr lang="en-US" sz="1250" dirty="0"/>
          </a:p>
        </p:txBody>
      </p:sp>
      <p:sp>
        <p:nvSpPr>
          <p:cNvPr id="20" name="Shape 18"/>
          <p:cNvSpPr/>
          <p:nvPr/>
        </p:nvSpPr>
        <p:spPr>
          <a:xfrm>
            <a:off x="777240" y="4498848"/>
            <a:ext cx="5669280" cy="10973"/>
          </a:xfrm>
          <a:prstGeom prst="rect">
            <a:avLst/>
          </a:prstGeom>
          <a:solidFill>
            <a:srgbClr val="DFE1E5"/>
          </a:solidFill>
          <a:ln w="12700">
            <a:solidFill>
              <a:srgbClr val="333333"/>
            </a:solidFill>
            <a:prstDash val="solid"/>
          </a:ln>
        </p:spPr>
      </p:sp>
      <p:sp>
        <p:nvSpPr>
          <p:cNvPr id="21" name="Text 19"/>
          <p:cNvSpPr/>
          <p:nvPr/>
        </p:nvSpPr>
        <p:spPr>
          <a:xfrm>
            <a:off x="777240" y="4590288"/>
            <a:ext cx="2194560" cy="274320"/>
          </a:xfrm>
          <a:prstGeom prst="rect">
            <a:avLst/>
          </a:prstGeom>
          <a:noFill/>
          <a:ln/>
        </p:spPr>
        <p:txBody>
          <a:bodyPr wrap="square" rtlCol="0" anchor="ctr"/>
          <a:lstStyle/>
          <a:p>
            <a:pPr indent="0" marL="0">
              <a:buNone/>
            </a:pPr>
            <a:r>
              <a:rPr lang="en-US" sz="1250" b="1" dirty="0">
                <a:solidFill>
                  <a:srgbClr val="111317"/>
                </a:solidFill>
                <a:latin typeface="Arial" pitchFamily="34" charset="0"/>
                <a:ea typeface="Arial" pitchFamily="34" charset="-122"/>
                <a:cs typeface="Arial" pitchFamily="34" charset="-120"/>
              </a:rPr>
              <a:t>Total</a:t>
            </a:r>
            <a:endParaRPr lang="en-US" sz="1250" dirty="0"/>
          </a:p>
        </p:txBody>
      </p:sp>
      <p:sp>
        <p:nvSpPr>
          <p:cNvPr id="22" name="Text 20"/>
          <p:cNvSpPr/>
          <p:nvPr/>
        </p:nvSpPr>
        <p:spPr>
          <a:xfrm>
            <a:off x="2971800" y="4590288"/>
            <a:ext cx="164592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161s</a:t>
            </a:r>
            <a:endParaRPr lang="en-US" sz="1250" dirty="0"/>
          </a:p>
        </p:txBody>
      </p:sp>
      <p:sp>
        <p:nvSpPr>
          <p:cNvPr id="23" name="Text 21"/>
          <p:cNvSpPr/>
          <p:nvPr/>
        </p:nvSpPr>
        <p:spPr>
          <a:xfrm>
            <a:off x="4709160" y="4590288"/>
            <a:ext cx="1737360" cy="274320"/>
          </a:xfrm>
          <a:prstGeom prst="rect">
            <a:avLst/>
          </a:prstGeom>
          <a:noFill/>
          <a:ln/>
        </p:spPr>
        <p:txBody>
          <a:bodyPr wrap="square" rtlCol="0" anchor="ctr"/>
          <a:lstStyle/>
          <a:p>
            <a:pPr algn="r" indent="0" marL="0">
              <a:buNone/>
            </a:pPr>
            <a:r>
              <a:rPr lang="en-US" sz="1250" b="1" dirty="0">
                <a:solidFill>
                  <a:srgbClr val="D62D12"/>
                </a:solidFill>
                <a:latin typeface="Arial" pitchFamily="34" charset="0"/>
                <a:ea typeface="Arial" pitchFamily="34" charset="-122"/>
                <a:cs typeface="Arial" pitchFamily="34" charset="-120"/>
              </a:rPr>
              <a:t>27s</a:t>
            </a:r>
            <a:endParaRPr lang="en-US" sz="1250" dirty="0"/>
          </a:p>
        </p:txBody>
      </p:sp>
      <p:sp>
        <p:nvSpPr>
          <p:cNvPr id="24" name="Shape 22"/>
          <p:cNvSpPr/>
          <p:nvPr/>
        </p:nvSpPr>
        <p:spPr>
          <a:xfrm>
            <a:off x="777240" y="4956048"/>
            <a:ext cx="5669280" cy="10973"/>
          </a:xfrm>
          <a:prstGeom prst="rect">
            <a:avLst/>
          </a:prstGeom>
          <a:solidFill>
            <a:srgbClr val="DFE1E5"/>
          </a:solidFill>
          <a:ln w="12700">
            <a:solidFill>
              <a:srgbClr val="333333"/>
            </a:solidFill>
            <a:prstDash val="solid"/>
          </a:ln>
        </p:spPr>
      </p:sp>
      <p:sp>
        <p:nvSpPr>
          <p:cNvPr id="25" name="Text 23"/>
          <p:cNvSpPr/>
          <p:nvPr/>
        </p:nvSpPr>
        <p:spPr>
          <a:xfrm>
            <a:off x="777240" y="5047488"/>
            <a:ext cx="2194560" cy="274320"/>
          </a:xfrm>
          <a:prstGeom prst="rect">
            <a:avLst/>
          </a:prstGeom>
          <a:noFill/>
          <a:ln/>
        </p:spPr>
        <p:txBody>
          <a:bodyPr wrap="square" rtlCol="0" anchor="ctr"/>
          <a:lstStyle/>
          <a:p>
            <a:pPr indent="0" marL="0">
              <a:buNone/>
            </a:pPr>
            <a:r>
              <a:rPr lang="en-US" sz="1250" b="1" dirty="0">
                <a:solidFill>
                  <a:srgbClr val="111317"/>
                </a:solidFill>
                <a:latin typeface="Arial" pitchFamily="34" charset="0"/>
                <a:ea typeface="Arial" pitchFamily="34" charset="-122"/>
                <a:cs typeface="Arial" pitchFamily="34" charset="-120"/>
              </a:rPr>
              <a:t>Cost</a:t>
            </a:r>
            <a:endParaRPr lang="en-US" sz="1250" dirty="0"/>
          </a:p>
        </p:txBody>
      </p:sp>
      <p:sp>
        <p:nvSpPr>
          <p:cNvPr id="26" name="Text 24"/>
          <p:cNvSpPr/>
          <p:nvPr/>
        </p:nvSpPr>
        <p:spPr>
          <a:xfrm>
            <a:off x="2971800" y="5047488"/>
            <a:ext cx="1645920" cy="274320"/>
          </a:xfrm>
          <a:prstGeom prst="rect">
            <a:avLst/>
          </a:prstGeom>
          <a:noFill/>
          <a:ln/>
        </p:spPr>
        <p:txBody>
          <a:bodyPr wrap="square" rtlCol="0" anchor="ctr"/>
          <a:lstStyle/>
          <a:p>
            <a:pPr algn="r" indent="0" marL="0">
              <a:buNone/>
            </a:pPr>
            <a:r>
              <a:rPr lang="en-US" sz="1250" dirty="0">
                <a:solidFill>
                  <a:srgbClr val="5C636E"/>
                </a:solidFill>
                <a:latin typeface="Arial" pitchFamily="34" charset="0"/>
                <a:ea typeface="Arial" pitchFamily="34" charset="-122"/>
                <a:cs typeface="Arial" pitchFamily="34" charset="-120"/>
              </a:rPr>
              <a:t>10.4 credits</a:t>
            </a:r>
            <a:endParaRPr lang="en-US" sz="1250" dirty="0"/>
          </a:p>
        </p:txBody>
      </p:sp>
      <p:sp>
        <p:nvSpPr>
          <p:cNvPr id="27" name="Text 25"/>
          <p:cNvSpPr/>
          <p:nvPr/>
        </p:nvSpPr>
        <p:spPr>
          <a:xfrm>
            <a:off x="4709160" y="5047488"/>
            <a:ext cx="1737360" cy="274320"/>
          </a:xfrm>
          <a:prstGeom prst="rect">
            <a:avLst/>
          </a:prstGeom>
          <a:noFill/>
          <a:ln/>
        </p:spPr>
        <p:txBody>
          <a:bodyPr wrap="square" rtlCol="0" anchor="ctr"/>
          <a:lstStyle/>
          <a:p>
            <a:pPr algn="r" indent="0" marL="0">
              <a:buNone/>
            </a:pPr>
            <a:r>
              <a:rPr lang="en-US" sz="1250" b="1" dirty="0">
                <a:solidFill>
                  <a:srgbClr val="D62D12"/>
                </a:solidFill>
                <a:latin typeface="Arial" pitchFamily="34" charset="0"/>
                <a:ea typeface="Arial" pitchFamily="34" charset="-122"/>
                <a:cs typeface="Arial" pitchFamily="34" charset="-120"/>
              </a:rPr>
              <a:t>nothing</a:t>
            </a:r>
            <a:endParaRPr lang="en-US" sz="1250" dirty="0"/>
          </a:p>
        </p:txBody>
      </p:sp>
      <p:sp>
        <p:nvSpPr>
          <p:cNvPr id="28" name="Text 26"/>
          <p:cNvSpPr/>
          <p:nvPr/>
        </p:nvSpPr>
        <p:spPr>
          <a:xfrm>
            <a:off x="777240" y="5669280"/>
            <a:ext cx="5760720" cy="457200"/>
          </a:xfrm>
          <a:prstGeom prst="rect">
            <a:avLst/>
          </a:prstGeom>
          <a:noFill/>
          <a:ln/>
        </p:spPr>
        <p:txBody>
          <a:bodyPr wrap="square" rtlCol="0" anchor="ctr"/>
          <a:lstStyle/>
          <a:p>
            <a:pPr indent="0" marL="0">
              <a:lnSpc>
                <a:spcPct val="130000"/>
              </a:lnSpc>
              <a:buNone/>
            </a:pPr>
            <a:r>
              <a:rPr lang="en-US" sz="1200" dirty="0">
                <a:solidFill>
                  <a:srgbClr val="373D47"/>
                </a:solidFill>
                <a:latin typeface="Arial" pitchFamily="34" charset="0"/>
                <a:ea typeface="Arial" pitchFamily="34" charset="-122"/>
                <a:cs typeface="Arial" pitchFamily="34" charset="-120"/>
              </a:rPr>
              <a:t>Vercel kills a request at 60 seconds. The left column does not just cost more - it fails.</a:t>
            </a:r>
            <a:endParaRPr lang="en-US" sz="1200" dirty="0"/>
          </a:p>
        </p:txBody>
      </p:sp>
      <p:pic>
        <p:nvPicPr>
          <p:cNvPr id="29" name="Image 0" descr="G:\amd-hackathon\lastbuy\submission\screenshots\02-notices-empty.png">    </p:cNvPr>
          <p:cNvPicPr>
            <a:picLocks noChangeAspect="1"/>
          </p:cNvPicPr>
          <p:nvPr/>
        </p:nvPicPr>
        <p:blipFill>
          <a:blip r:embed="rId1"/>
          <a:stretch>
            <a:fillRect/>
          </a:stretch>
        </p:blipFill>
        <p:spPr>
          <a:xfrm>
            <a:off x="6858000" y="1737360"/>
            <a:ext cx="4572000" cy="2569464"/>
          </a:xfrm>
          <a:prstGeom prst="rect">
            <a:avLst/>
          </a:prstGeom>
        </p:spPr>
      </p:pic>
      <p:sp>
        <p:nvSpPr>
          <p:cNvPr id="30" name="Text 27"/>
          <p:cNvSpPr/>
          <p:nvPr/>
        </p:nvSpPr>
        <p:spPr>
          <a:xfrm>
            <a:off x="6858000" y="4434840"/>
            <a:ext cx="4572000" cy="457200"/>
          </a:xfrm>
          <a:prstGeom prst="rect">
            <a:avLst/>
          </a:prstGeom>
          <a:noFill/>
          <a:ln/>
        </p:spPr>
        <p:txBody>
          <a:bodyPr wrap="square" rtlCol="0" anchor="ctr"/>
          <a:lstStyle/>
          <a:p>
            <a:pPr indent="0" marL="0">
              <a:lnSpc>
                <a:spcPct val="130000"/>
              </a:lnSpc>
              <a:buNone/>
            </a:pPr>
            <a:r>
              <a:rPr lang="en-US" sz="1100" dirty="0">
                <a:solidFill>
                  <a:srgbClr val="5C636E"/>
                </a:solidFill>
                <a:latin typeface="Arial" pitchFamily="34" charset="0"/>
                <a:ea typeface="Arial" pitchFamily="34" charset="-122"/>
                <a:cs typeface="Arial" pitchFamily="34" charset="-120"/>
              </a:rPr>
              <a:t>Five parts matched. Last-time buy 2014-02-01, read off its own label.</a:t>
            </a:r>
            <a:endParaRPr lang="en-US" sz="1100" dirty="0"/>
          </a:p>
        </p:txBody>
      </p:sp>
      <p:sp>
        <p:nvSpPr>
          <p:cNvPr id="31" name="Shape 28"/>
          <p:cNvSpPr/>
          <p:nvPr/>
        </p:nvSpPr>
        <p:spPr>
          <a:xfrm>
            <a:off x="777240" y="5998464"/>
            <a:ext cx="10637215" cy="10973"/>
          </a:xfrm>
          <a:prstGeom prst="rect">
            <a:avLst/>
          </a:prstGeom>
          <a:solidFill>
            <a:srgbClr val="DFE1E5"/>
          </a:solidFill>
          <a:ln w="12700">
            <a:solidFill>
              <a:srgbClr val="333333"/>
            </a:solidFill>
            <a:prstDash val="solid"/>
          </a:ln>
        </p:spPr>
      </p:sp>
      <p:sp>
        <p:nvSpPr>
          <p:cNvPr id="32" name="Text 29"/>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33" name="Text 30"/>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34" name="Text 31"/>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35" name="Text 32"/>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36" name="Text 33"/>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37" name="Text 34"/>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38" name="Text 35"/>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39" name="Text 36"/>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ASK</a:t>
            </a:r>
            <a:endParaRPr lang="en-US" sz="1100" dirty="0"/>
          </a:p>
        </p:txBody>
      </p:sp>
      <p:sp>
        <p:nvSpPr>
          <p:cNvPr id="3" name="Text 1"/>
          <p:cNvSpPr/>
          <p:nvPr/>
        </p:nvSpPr>
        <p:spPr>
          <a:xfrm>
            <a:off x="777240" y="914400"/>
            <a:ext cx="5120640" cy="1463040"/>
          </a:xfrm>
          <a:prstGeom prst="rect">
            <a:avLst/>
          </a:prstGeom>
          <a:noFill/>
          <a:ln/>
        </p:spPr>
        <p:txBody>
          <a:bodyPr wrap="square" rtlCol="0" anchor="ctr"/>
          <a:lstStyle/>
          <a:p>
            <a:pPr indent="0" marL="0">
              <a:lnSpc>
                <a:spcPct val="114000"/>
              </a:lnSpc>
              <a:buNone/>
            </a:pPr>
            <a:r>
              <a:rPr lang="en-US" sz="2500" b="1" dirty="0">
                <a:solidFill>
                  <a:srgbClr val="111317"/>
                </a:solidFill>
                <a:latin typeface="Arial" pitchFamily="34" charset="0"/>
                <a:ea typeface="Arial" pitchFamily="34" charset="-122"/>
                <a:cs typeface="Arial" pitchFamily="34" charset="-120"/>
              </a:rPr>
              <a:t>Bring your own documents. Every answer says where it came from.</a:t>
            </a:r>
            <a:endParaRPr lang="en-US" sz="2500" dirty="0"/>
          </a:p>
        </p:txBody>
      </p:sp>
      <p:sp>
        <p:nvSpPr>
          <p:cNvPr id="4" name="Text 2"/>
          <p:cNvSpPr/>
          <p:nvPr/>
        </p:nvSpPr>
        <p:spPr>
          <a:xfrm>
            <a:off x="777240" y="2514600"/>
            <a:ext cx="4846320" cy="1371600"/>
          </a:xfrm>
          <a:prstGeom prst="rect">
            <a:avLst/>
          </a:prstGeom>
          <a:noFill/>
          <a:ln/>
        </p:spPr>
        <p:txBody>
          <a:bodyPr wrap="square" rtlCol="0" anchor="ctr"/>
          <a:lstStyle/>
          <a:p>
            <a:pPr indent="0" marL="0">
              <a:lnSpc>
                <a:spcPct val="135000"/>
              </a:lnSpc>
              <a:buNone/>
            </a:pPr>
            <a:r>
              <a:rPr lang="en-US" sz="1350" dirty="0">
                <a:solidFill>
                  <a:srgbClr val="373D47"/>
                </a:solidFill>
                <a:latin typeface="Arial" pitchFamily="34" charset="0"/>
                <a:ea typeface="Arial" pitchFamily="34" charset="-122"/>
                <a:cs typeface="Arial" pitchFamily="34" charset="-120"/>
              </a:rPr>
              <a:t>Drop in as many files as you like and ask across all of them at once. A claim read from a document ends with the filename. A figure computed from the bill of materials ends with [engine]. The two are never mixed up.</a:t>
            </a:r>
            <a:endParaRPr lang="en-US" sz="1350" dirty="0"/>
          </a:p>
        </p:txBody>
      </p:sp>
      <p:sp>
        <p:nvSpPr>
          <p:cNvPr id="5" name="Text 3"/>
          <p:cNvSpPr/>
          <p:nvPr/>
        </p:nvSpPr>
        <p:spPr>
          <a:xfrm>
            <a:off x="777240" y="3977640"/>
            <a:ext cx="4846320" cy="1463040"/>
          </a:xfrm>
          <a:prstGeom prst="rect">
            <a:avLst/>
          </a:prstGeom>
          <a:noFill/>
          <a:ln/>
        </p:spPr>
        <p:txBody>
          <a:bodyPr wrap="square" rtlCol="0" anchor="ctr"/>
          <a:lstStyle/>
          <a:p>
            <a:pPr indent="0" marL="0">
              <a:lnSpc>
                <a:spcPct val="135000"/>
              </a:lnSpc>
              <a:buNone/>
            </a:pPr>
            <a:r>
              <a:rPr lang="en-US" sz="1350" dirty="0">
                <a:solidFill>
                  <a:srgbClr val="111317"/>
                </a:solidFill>
                <a:latin typeface="Arial" pitchFamily="34" charset="0"/>
                <a:ea typeface="Arial" pitchFamily="34" charset="-122"/>
                <a:cs typeface="Arial" pitchFamily="34" charset="-120"/>
              </a:rPr>
              <a:t>When the window fills, the chat is not summarised. It becomes claims - each with its subject, how it is known, and which document it came from - and the messages are thrown away. A summary cannot be checked. A claim can.</a:t>
            </a:r>
            <a:endParaRPr lang="en-US" sz="1350" dirty="0"/>
          </a:p>
        </p:txBody>
      </p:sp>
      <p:pic>
        <p:nvPicPr>
          <p:cNvPr id="6" name="Image 0" descr="G:\amd-hackathon\lastbuy\submission\screenshots\14-ask-in-use.png">    </p:cNvPr>
          <p:cNvPicPr>
            <a:picLocks noChangeAspect="1"/>
          </p:cNvPicPr>
          <p:nvPr/>
        </p:nvPicPr>
        <p:blipFill>
          <a:blip r:embed="rId1"/>
          <a:stretch>
            <a:fillRect/>
          </a:stretch>
        </p:blipFill>
        <p:spPr>
          <a:xfrm>
            <a:off x="5852160" y="1143000"/>
            <a:ext cx="5577840" cy="3136392"/>
          </a:xfrm>
          <a:prstGeom prst="rect">
            <a:avLst/>
          </a:prstGeom>
        </p:spPr>
      </p:pic>
      <p:sp>
        <p:nvSpPr>
          <p:cNvPr id="7" name="Text 4"/>
          <p:cNvSpPr/>
          <p:nvPr/>
        </p:nvSpPr>
        <p:spPr>
          <a:xfrm>
            <a:off x="5852160" y="4389120"/>
            <a:ext cx="5577840" cy="274320"/>
          </a:xfrm>
          <a:prstGeom prst="rect">
            <a:avLst/>
          </a:prstGeom>
          <a:noFill/>
          <a:ln/>
        </p:spPr>
        <p:txBody>
          <a:bodyPr wrap="square" rtlCol="0" anchor="ctr"/>
          <a:lstStyle/>
          <a:p>
            <a:pPr indent="0" marL="0">
              <a:buNone/>
            </a:pPr>
            <a:r>
              <a:rPr lang="en-US" sz="1200" dirty="0">
                <a:solidFill>
                  <a:srgbClr val="D62D12"/>
                </a:solidFill>
                <a:latin typeface="Consolas" pitchFamily="34" charset="0"/>
                <a:ea typeface="Consolas" pitchFamily="34" charset="-122"/>
                <a:cs typeface="Consolas" pitchFamily="34" charset="-120"/>
              </a:rPr>
              <a:t>2.1 seconds. $0.000039.</a:t>
            </a:r>
            <a:endParaRPr lang="en-US" sz="1200" dirty="0"/>
          </a:p>
        </p:txBody>
      </p:sp>
      <p:sp>
        <p:nvSpPr>
          <p:cNvPr id="8" name="Shape 5"/>
          <p:cNvSpPr/>
          <p:nvPr/>
        </p:nvSpPr>
        <p:spPr>
          <a:xfrm>
            <a:off x="777240" y="5998464"/>
            <a:ext cx="10637215" cy="10973"/>
          </a:xfrm>
          <a:prstGeom prst="rect">
            <a:avLst/>
          </a:prstGeom>
          <a:solidFill>
            <a:srgbClr val="DFE1E5"/>
          </a:solidFill>
          <a:ln w="12700">
            <a:solidFill>
              <a:srgbClr val="333333"/>
            </a:solidFill>
            <a:prstDash val="solid"/>
          </a:ln>
        </p:spPr>
      </p:sp>
      <p:sp>
        <p:nvSpPr>
          <p:cNvPr id="9" name="Text 6"/>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10" name="Text 7"/>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11" name="Text 8"/>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12" name="Text 9"/>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13" name="Text 10"/>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14" name="Text 11"/>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15" name="Text 12"/>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16" name="Text 13"/>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WHAT IT RUNS ON</a:t>
            </a:r>
            <a:endParaRPr lang="en-US" sz="1100" dirty="0"/>
          </a:p>
        </p:txBody>
      </p:sp>
      <p:sp>
        <p:nvSpPr>
          <p:cNvPr id="3" name="Text 1"/>
          <p:cNvSpPr/>
          <p:nvPr/>
        </p:nvSpPr>
        <p:spPr>
          <a:xfrm>
            <a:off x="777240" y="914400"/>
            <a:ext cx="7680960" cy="777240"/>
          </a:xfrm>
          <a:prstGeom prst="rect">
            <a:avLst/>
          </a:prstGeom>
          <a:noFill/>
          <a:ln/>
        </p:spPr>
        <p:txBody>
          <a:bodyPr wrap="square" rtlCol="0" anchor="ctr"/>
          <a:lstStyle/>
          <a:p>
            <a:pPr indent="0" marL="0">
              <a:buNone/>
            </a:pPr>
            <a:r>
              <a:rPr lang="en-US" sz="2800" b="1" dirty="0">
                <a:solidFill>
                  <a:srgbClr val="111317"/>
                </a:solidFill>
                <a:latin typeface="Arial" pitchFamily="34" charset="0"/>
                <a:ea typeface="Arial" pitchFamily="34" charset="-122"/>
                <a:cs typeface="Arial" pitchFamily="34" charset="-120"/>
              </a:rPr>
              <a:t>Three partners, and one file that proves it.</a:t>
            </a:r>
            <a:endParaRPr lang="en-US" sz="2800" dirty="0"/>
          </a:p>
        </p:txBody>
      </p:sp>
      <p:sp>
        <p:nvSpPr>
          <p:cNvPr id="4" name="Shape 2"/>
          <p:cNvSpPr/>
          <p:nvPr/>
        </p:nvSpPr>
        <p:spPr>
          <a:xfrm>
            <a:off x="777240" y="1837944"/>
            <a:ext cx="10637215" cy="10973"/>
          </a:xfrm>
          <a:prstGeom prst="rect">
            <a:avLst/>
          </a:prstGeom>
          <a:solidFill>
            <a:srgbClr val="DFE1E5"/>
          </a:solidFill>
          <a:ln w="12700">
            <a:solidFill>
              <a:srgbClr val="333333"/>
            </a:solidFill>
            <a:prstDash val="solid"/>
          </a:ln>
        </p:spPr>
      </p:sp>
      <p:sp>
        <p:nvSpPr>
          <p:cNvPr id="5" name="Text 3"/>
          <p:cNvSpPr/>
          <p:nvPr/>
        </p:nvSpPr>
        <p:spPr>
          <a:xfrm>
            <a:off x="777240" y="1965960"/>
            <a:ext cx="3017520" cy="292608"/>
          </a:xfrm>
          <a:prstGeom prst="rect">
            <a:avLst/>
          </a:prstGeom>
          <a:noFill/>
          <a:ln/>
        </p:spPr>
        <p:txBody>
          <a:bodyPr wrap="square" rtlCol="0" anchor="ctr"/>
          <a:lstStyle/>
          <a:p>
            <a:pPr indent="0" marL="0">
              <a:buNone/>
            </a:pPr>
            <a:r>
              <a:rPr lang="en-US" sz="1400" b="1" dirty="0">
                <a:solidFill>
                  <a:srgbClr val="111317"/>
                </a:solidFill>
                <a:latin typeface="Consolas" pitchFamily="34" charset="0"/>
                <a:ea typeface="Consolas" pitchFamily="34" charset="-122"/>
                <a:cs typeface="Consolas" pitchFamily="34" charset="-120"/>
              </a:rPr>
              <a:t>Gemma-4-31B-IT</a:t>
            </a:r>
            <a:endParaRPr lang="en-US" sz="1400" dirty="0"/>
          </a:p>
        </p:txBody>
      </p:sp>
      <p:sp>
        <p:nvSpPr>
          <p:cNvPr id="6" name="Text 4"/>
          <p:cNvSpPr/>
          <p:nvPr/>
        </p:nvSpPr>
        <p:spPr>
          <a:xfrm>
            <a:off x="3886200" y="1984248"/>
            <a:ext cx="5394960" cy="36576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Google's open model. Reads notices, writes memos, answers in Ask.</a:t>
            </a:r>
            <a:endParaRPr lang="en-US" sz="1250" dirty="0"/>
          </a:p>
        </p:txBody>
      </p:sp>
      <p:sp>
        <p:nvSpPr>
          <p:cNvPr id="7" name="Text 5"/>
          <p:cNvSpPr/>
          <p:nvPr/>
        </p:nvSpPr>
        <p:spPr>
          <a:xfrm>
            <a:off x="9372600" y="1965960"/>
            <a:ext cx="1920240" cy="292608"/>
          </a:xfrm>
          <a:prstGeom prst="rect">
            <a:avLst/>
          </a:prstGeom>
          <a:noFill/>
          <a:ln/>
        </p:spPr>
        <p:txBody>
          <a:bodyPr wrap="square" rtlCol="0" anchor="ctr"/>
          <a:lstStyle/>
          <a:p>
            <a:pPr algn="r" indent="0" marL="0">
              <a:buNone/>
            </a:pPr>
            <a:r>
              <a:rPr lang="en-US" sz="1200" dirty="0">
                <a:solidFill>
                  <a:srgbClr val="D62D12"/>
                </a:solidFill>
                <a:latin typeface="Arial" pitchFamily="34" charset="0"/>
                <a:ea typeface="Arial" pitchFamily="34" charset="-122"/>
                <a:cs typeface="Arial" pitchFamily="34" charset="-120"/>
              </a:rPr>
              <a:t>2.1s an answer</a:t>
            </a:r>
            <a:endParaRPr lang="en-US" sz="1200" dirty="0"/>
          </a:p>
        </p:txBody>
      </p:sp>
      <p:sp>
        <p:nvSpPr>
          <p:cNvPr id="8" name="Shape 6"/>
          <p:cNvSpPr/>
          <p:nvPr/>
        </p:nvSpPr>
        <p:spPr>
          <a:xfrm>
            <a:off x="777240" y="2679192"/>
            <a:ext cx="10637215" cy="10973"/>
          </a:xfrm>
          <a:prstGeom prst="rect">
            <a:avLst/>
          </a:prstGeom>
          <a:solidFill>
            <a:srgbClr val="DFE1E5"/>
          </a:solidFill>
          <a:ln w="12700">
            <a:solidFill>
              <a:srgbClr val="333333"/>
            </a:solidFill>
            <a:prstDash val="solid"/>
          </a:ln>
        </p:spPr>
      </p:sp>
      <p:sp>
        <p:nvSpPr>
          <p:cNvPr id="9" name="Text 7"/>
          <p:cNvSpPr/>
          <p:nvPr/>
        </p:nvSpPr>
        <p:spPr>
          <a:xfrm>
            <a:off x="777240" y="2807208"/>
            <a:ext cx="3017520" cy="292608"/>
          </a:xfrm>
          <a:prstGeom prst="rect">
            <a:avLst/>
          </a:prstGeom>
          <a:noFill/>
          <a:ln/>
        </p:spPr>
        <p:txBody>
          <a:bodyPr wrap="square" rtlCol="0" anchor="ctr"/>
          <a:lstStyle/>
          <a:p>
            <a:pPr indent="0" marL="0">
              <a:buNone/>
            </a:pPr>
            <a:r>
              <a:rPr lang="en-US" sz="1400" b="1" dirty="0">
                <a:solidFill>
                  <a:srgbClr val="111317"/>
                </a:solidFill>
                <a:latin typeface="Consolas" pitchFamily="34" charset="0"/>
                <a:ea typeface="Consolas" pitchFamily="34" charset="-122"/>
                <a:cs typeface="Consolas" pitchFamily="34" charset="-120"/>
              </a:rPr>
              <a:t>AMD Instinct</a:t>
            </a:r>
            <a:endParaRPr lang="en-US" sz="1400" dirty="0"/>
          </a:p>
        </p:txBody>
      </p:sp>
      <p:sp>
        <p:nvSpPr>
          <p:cNvPr id="10" name="Text 8"/>
          <p:cNvSpPr/>
          <p:nvPr/>
        </p:nvSpPr>
        <p:spPr>
          <a:xfrm>
            <a:off x="3886200" y="2825496"/>
            <a:ext cx="5394960" cy="36576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developer.amd.com.cn - MinerU2.5-Pro reads, Gemma does the rest.</a:t>
            </a:r>
            <a:endParaRPr lang="en-US" sz="1250" dirty="0"/>
          </a:p>
        </p:txBody>
      </p:sp>
      <p:sp>
        <p:nvSpPr>
          <p:cNvPr id="11" name="Text 9"/>
          <p:cNvSpPr/>
          <p:nvPr/>
        </p:nvSpPr>
        <p:spPr>
          <a:xfrm>
            <a:off x="9372600" y="2807208"/>
            <a:ext cx="1920240" cy="292608"/>
          </a:xfrm>
          <a:prstGeom prst="rect">
            <a:avLst/>
          </a:prstGeom>
          <a:noFill/>
          <a:ln/>
        </p:spPr>
        <p:txBody>
          <a:bodyPr wrap="square" rtlCol="0" anchor="ctr"/>
          <a:lstStyle/>
          <a:p>
            <a:pPr algn="r" indent="0" marL="0">
              <a:buNone/>
            </a:pPr>
            <a:r>
              <a:rPr lang="en-US" sz="1200" dirty="0">
                <a:solidFill>
                  <a:srgbClr val="D62D12"/>
                </a:solidFill>
                <a:latin typeface="Arial" pitchFamily="34" charset="0"/>
                <a:ea typeface="Arial" pitchFamily="34" charset="-122"/>
                <a:cs typeface="Arial" pitchFamily="34" charset="-120"/>
              </a:rPr>
              <a:t>every model call</a:t>
            </a:r>
            <a:endParaRPr lang="en-US" sz="1200" dirty="0"/>
          </a:p>
        </p:txBody>
      </p:sp>
      <p:sp>
        <p:nvSpPr>
          <p:cNvPr id="12" name="Shape 10"/>
          <p:cNvSpPr/>
          <p:nvPr/>
        </p:nvSpPr>
        <p:spPr>
          <a:xfrm>
            <a:off x="777240" y="3520440"/>
            <a:ext cx="10637215" cy="10973"/>
          </a:xfrm>
          <a:prstGeom prst="rect">
            <a:avLst/>
          </a:prstGeom>
          <a:solidFill>
            <a:srgbClr val="DFE1E5"/>
          </a:solidFill>
          <a:ln w="12700">
            <a:solidFill>
              <a:srgbClr val="333333"/>
            </a:solidFill>
            <a:prstDash val="solid"/>
          </a:ln>
        </p:spPr>
      </p:sp>
      <p:sp>
        <p:nvSpPr>
          <p:cNvPr id="13" name="Text 11"/>
          <p:cNvSpPr/>
          <p:nvPr/>
        </p:nvSpPr>
        <p:spPr>
          <a:xfrm>
            <a:off x="777240" y="3648456"/>
            <a:ext cx="3017520" cy="292608"/>
          </a:xfrm>
          <a:prstGeom prst="rect">
            <a:avLst/>
          </a:prstGeom>
          <a:noFill/>
          <a:ln/>
        </p:spPr>
        <p:txBody>
          <a:bodyPr wrap="square" rtlCol="0" anchor="ctr"/>
          <a:lstStyle/>
          <a:p>
            <a:pPr indent="0" marL="0">
              <a:buNone/>
            </a:pPr>
            <a:r>
              <a:rPr lang="en-US" sz="1400" b="1" dirty="0">
                <a:solidFill>
                  <a:srgbClr val="111317"/>
                </a:solidFill>
                <a:latin typeface="Consolas" pitchFamily="34" charset="0"/>
                <a:ea typeface="Consolas" pitchFamily="34" charset="-122"/>
                <a:cs typeface="Consolas" pitchFamily="34" charset="-120"/>
              </a:rPr>
              <a:t>Evolus / lychee</a:t>
            </a:r>
            <a:endParaRPr lang="en-US" sz="1400" dirty="0"/>
          </a:p>
        </p:txBody>
      </p:sp>
      <p:sp>
        <p:nvSpPr>
          <p:cNvPr id="14" name="Text 12"/>
          <p:cNvSpPr/>
          <p:nvPr/>
        </p:nvSpPr>
        <p:spPr>
          <a:xfrm>
            <a:off x="3886200" y="3666744"/>
            <a:ext cx="5394960" cy="36576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Agent, AI Tools and a knowledge library, driven through the REST API.</a:t>
            </a:r>
            <a:endParaRPr lang="en-US" sz="1250" dirty="0"/>
          </a:p>
        </p:txBody>
      </p:sp>
      <p:sp>
        <p:nvSpPr>
          <p:cNvPr id="15" name="Text 13"/>
          <p:cNvSpPr/>
          <p:nvPr/>
        </p:nvSpPr>
        <p:spPr>
          <a:xfrm>
            <a:off x="9372600" y="3648456"/>
            <a:ext cx="1920240" cy="292608"/>
          </a:xfrm>
          <a:prstGeom prst="rect">
            <a:avLst/>
          </a:prstGeom>
          <a:noFill/>
          <a:ln/>
        </p:spPr>
        <p:txBody>
          <a:bodyPr wrap="square" rtlCol="0" anchor="ctr"/>
          <a:lstStyle/>
          <a:p>
            <a:pPr algn="r" indent="0" marL="0">
              <a:buNone/>
            </a:pPr>
            <a:r>
              <a:rPr lang="en-US" sz="1200" dirty="0">
                <a:solidFill>
                  <a:srgbClr val="D62D12"/>
                </a:solidFill>
                <a:latin typeface="Arial" pitchFamily="34" charset="0"/>
                <a:ea typeface="Arial" pitchFamily="34" charset="-122"/>
                <a:cs typeface="Arial" pitchFamily="34" charset="-120"/>
              </a:rPr>
              <a:t>cites its clauses</a:t>
            </a:r>
            <a:endParaRPr lang="en-US" sz="1200" dirty="0"/>
          </a:p>
        </p:txBody>
      </p:sp>
      <p:sp>
        <p:nvSpPr>
          <p:cNvPr id="16" name="Shape 14"/>
          <p:cNvSpPr/>
          <p:nvPr/>
        </p:nvSpPr>
        <p:spPr>
          <a:xfrm>
            <a:off x="777240" y="4361688"/>
            <a:ext cx="10637215" cy="10973"/>
          </a:xfrm>
          <a:prstGeom prst="rect">
            <a:avLst/>
          </a:prstGeom>
          <a:solidFill>
            <a:srgbClr val="DFE1E5"/>
          </a:solidFill>
          <a:ln w="12700">
            <a:solidFill>
              <a:srgbClr val="333333"/>
            </a:solidFill>
            <a:prstDash val="solid"/>
          </a:ln>
        </p:spPr>
      </p:sp>
      <p:sp>
        <p:nvSpPr>
          <p:cNvPr id="17" name="Text 15"/>
          <p:cNvSpPr/>
          <p:nvPr/>
        </p:nvSpPr>
        <p:spPr>
          <a:xfrm>
            <a:off x="777240" y="4489704"/>
            <a:ext cx="3017520" cy="292608"/>
          </a:xfrm>
          <a:prstGeom prst="rect">
            <a:avLst/>
          </a:prstGeom>
          <a:noFill/>
          <a:ln/>
        </p:spPr>
        <p:txBody>
          <a:bodyPr wrap="square" rtlCol="0" anchor="ctr"/>
          <a:lstStyle/>
          <a:p>
            <a:pPr indent="0" marL="0">
              <a:buNone/>
            </a:pPr>
            <a:r>
              <a:rPr lang="en-US" sz="1400" b="1" dirty="0">
                <a:solidFill>
                  <a:srgbClr val="111317"/>
                </a:solidFill>
                <a:latin typeface="Consolas" pitchFamily="34" charset="0"/>
                <a:ea typeface="Consolas" pitchFamily="34" charset="-122"/>
                <a:cs typeface="Consolas" pitchFamily="34" charset="-120"/>
              </a:rPr>
              <a:t>lib/graph.ts</a:t>
            </a:r>
            <a:endParaRPr lang="en-US" sz="1400" dirty="0"/>
          </a:p>
        </p:txBody>
      </p:sp>
      <p:sp>
        <p:nvSpPr>
          <p:cNvPr id="18" name="Text 16"/>
          <p:cNvSpPr/>
          <p:nvPr/>
        </p:nvSpPr>
        <p:spPr>
          <a:xfrm>
            <a:off x="3886200" y="4507992"/>
            <a:ext cx="5394960" cy="365760"/>
          </a:xfrm>
          <a:prstGeom prst="rect">
            <a:avLst/>
          </a:prstGeom>
          <a:noFill/>
          <a:ln/>
        </p:spPr>
        <p:txBody>
          <a:bodyPr wrap="square" rtlCol="0" anchor="ctr"/>
          <a:lstStyle/>
          <a:p>
            <a:pPr indent="0" marL="0">
              <a:buNone/>
            </a:pPr>
            <a:r>
              <a:rPr lang="en-US" sz="1250" dirty="0">
                <a:solidFill>
                  <a:srgbClr val="5C636E"/>
                </a:solidFill>
                <a:latin typeface="Arial" pitchFamily="34" charset="0"/>
                <a:ea typeface="Arial" pitchFamily="34" charset="-122"/>
                <a:cs typeface="Arial" pitchFamily="34" charset="-120"/>
              </a:rPr>
              <a:t>The impact engine. Pure traversal - no model is involved at all.</a:t>
            </a:r>
            <a:endParaRPr lang="en-US" sz="1250" dirty="0"/>
          </a:p>
        </p:txBody>
      </p:sp>
      <p:sp>
        <p:nvSpPr>
          <p:cNvPr id="19" name="Text 17"/>
          <p:cNvSpPr/>
          <p:nvPr/>
        </p:nvSpPr>
        <p:spPr>
          <a:xfrm>
            <a:off x="9372600" y="4489704"/>
            <a:ext cx="1920240" cy="292608"/>
          </a:xfrm>
          <a:prstGeom prst="rect">
            <a:avLst/>
          </a:prstGeom>
          <a:noFill/>
          <a:ln/>
        </p:spPr>
        <p:txBody>
          <a:bodyPr wrap="square" rtlCol="0" anchor="ctr"/>
          <a:lstStyle/>
          <a:p>
            <a:pPr algn="r" indent="0" marL="0">
              <a:buNone/>
            </a:pPr>
            <a:r>
              <a:rPr lang="en-US" sz="1200" dirty="0">
                <a:solidFill>
                  <a:srgbClr val="D62D12"/>
                </a:solidFill>
                <a:latin typeface="Arial" pitchFamily="34" charset="0"/>
                <a:ea typeface="Arial" pitchFamily="34" charset="-122"/>
                <a:cs typeface="Arial" pitchFamily="34" charset="-120"/>
              </a:rPr>
              <a:t>replayable</a:t>
            </a:r>
            <a:endParaRPr lang="en-US" sz="1200" dirty="0"/>
          </a:p>
        </p:txBody>
      </p:sp>
      <p:sp>
        <p:nvSpPr>
          <p:cNvPr id="20" name="Shape 18"/>
          <p:cNvSpPr/>
          <p:nvPr/>
        </p:nvSpPr>
        <p:spPr>
          <a:xfrm>
            <a:off x="777240" y="5239512"/>
            <a:ext cx="10637215" cy="10973"/>
          </a:xfrm>
          <a:prstGeom prst="rect">
            <a:avLst/>
          </a:prstGeom>
          <a:solidFill>
            <a:srgbClr val="DFE1E5"/>
          </a:solidFill>
          <a:ln w="12700">
            <a:solidFill>
              <a:srgbClr val="333333"/>
            </a:solidFill>
            <a:prstDash val="solid"/>
          </a:ln>
        </p:spPr>
      </p:sp>
      <p:sp>
        <p:nvSpPr>
          <p:cNvPr id="21" name="Text 19"/>
          <p:cNvSpPr/>
          <p:nvPr/>
        </p:nvSpPr>
        <p:spPr>
          <a:xfrm>
            <a:off x="777240" y="5458968"/>
            <a:ext cx="10607040" cy="548640"/>
          </a:xfrm>
          <a:prstGeom prst="rect">
            <a:avLst/>
          </a:prstGeom>
          <a:noFill/>
          <a:ln/>
        </p:spPr>
        <p:txBody>
          <a:bodyPr wrap="square" rtlCol="0" anchor="ctr"/>
          <a:lstStyle/>
          <a:p>
            <a:pPr indent="0" marL="0">
              <a:lnSpc>
                <a:spcPct val="130000"/>
              </a:lnSpc>
              <a:buNone/>
            </a:pPr>
            <a:r>
              <a:rPr lang="en-US" sz="1300" dirty="0">
                <a:solidFill>
                  <a:srgbClr val="373D47"/>
                </a:solidFill>
                <a:latin typeface="Arial" pitchFamily="34" charset="0"/>
                <a:ea typeface="Arial" pitchFamily="34" charset="-122"/>
                <a:cs typeface="Arial" pitchFamily="34" charset="-120"/>
              </a:rPr>
              <a:t>lib/amd.ts is the only file in the repository that reaches an inference provider. Grep it for openai, anthropic, groq or fireworks and nothing comes back.</a:t>
            </a:r>
            <a:endParaRPr lang="en-US" sz="1300" dirty="0"/>
          </a:p>
        </p:txBody>
      </p:sp>
      <p:sp>
        <p:nvSpPr>
          <p:cNvPr id="22" name="Shape 20"/>
          <p:cNvSpPr/>
          <p:nvPr/>
        </p:nvSpPr>
        <p:spPr>
          <a:xfrm>
            <a:off x="777240" y="5998464"/>
            <a:ext cx="10637215" cy="10973"/>
          </a:xfrm>
          <a:prstGeom prst="rect">
            <a:avLst/>
          </a:prstGeom>
          <a:solidFill>
            <a:srgbClr val="DFE1E5"/>
          </a:solidFill>
          <a:ln w="12700">
            <a:solidFill>
              <a:srgbClr val="333333"/>
            </a:solidFill>
            <a:prstDash val="solid"/>
          </a:ln>
        </p:spPr>
      </p:sp>
      <p:sp>
        <p:nvSpPr>
          <p:cNvPr id="23" name="Text 21"/>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24" name="Text 22"/>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25" name="Text 23"/>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26" name="Text 24"/>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27" name="Text 25"/>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28" name="Text 26"/>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29" name="Text 27"/>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30" name="Text 28"/>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66928"/>
            <a:ext cx="10637215" cy="274320"/>
          </a:xfrm>
          <a:prstGeom prst="rect">
            <a:avLst/>
          </a:prstGeom>
          <a:noFill/>
          <a:ln/>
        </p:spPr>
        <p:txBody>
          <a:bodyPr wrap="square" rtlCol="0" anchor="ctr"/>
          <a:lstStyle/>
          <a:p>
            <a:pPr indent="0" marL="0">
              <a:buNone/>
            </a:pPr>
            <a:r>
              <a:rPr lang="en-US" sz="1100" b="1" spc="220" kern="0" dirty="0">
                <a:solidFill>
                  <a:srgbClr val="5C636E"/>
                </a:solidFill>
                <a:latin typeface="Arial" pitchFamily="34" charset="0"/>
                <a:ea typeface="Arial" pitchFamily="34" charset="-122"/>
                <a:cs typeface="Arial" pitchFamily="34" charset="-120"/>
              </a:rPr>
              <a:t>WHAT IT COSTS</a:t>
            </a:r>
            <a:endParaRPr lang="en-US" sz="1100" dirty="0"/>
          </a:p>
        </p:txBody>
      </p:sp>
      <p:sp>
        <p:nvSpPr>
          <p:cNvPr id="3" name="Text 1"/>
          <p:cNvSpPr/>
          <p:nvPr/>
        </p:nvSpPr>
        <p:spPr>
          <a:xfrm>
            <a:off x="777240" y="914400"/>
            <a:ext cx="6766560" cy="777240"/>
          </a:xfrm>
          <a:prstGeom prst="rect">
            <a:avLst/>
          </a:prstGeom>
          <a:noFill/>
          <a:ln/>
        </p:spPr>
        <p:txBody>
          <a:bodyPr wrap="square" rtlCol="0" anchor="ctr"/>
          <a:lstStyle/>
          <a:p>
            <a:pPr indent="0" marL="0">
              <a:buNone/>
            </a:pPr>
            <a:r>
              <a:rPr lang="en-US" sz="2800" b="1" dirty="0">
                <a:solidFill>
                  <a:srgbClr val="111317"/>
                </a:solidFill>
                <a:latin typeface="Arial" pitchFamily="34" charset="0"/>
                <a:ea typeface="Arial" pitchFamily="34" charset="-122"/>
                <a:cs typeface="Arial" pitchFamily="34" charset="-120"/>
              </a:rPr>
              <a:t>Cheap enough to run on everything.</a:t>
            </a:r>
            <a:endParaRPr lang="en-US" sz="2800" dirty="0"/>
          </a:p>
        </p:txBody>
      </p:sp>
      <p:sp>
        <p:nvSpPr>
          <p:cNvPr id="4" name="Text 2"/>
          <p:cNvSpPr/>
          <p:nvPr/>
        </p:nvSpPr>
        <p:spPr>
          <a:xfrm>
            <a:off x="777240" y="1783080"/>
            <a:ext cx="5852160" cy="1005840"/>
          </a:xfrm>
          <a:prstGeom prst="rect">
            <a:avLst/>
          </a:prstGeom>
          <a:noFill/>
          <a:ln/>
        </p:spPr>
        <p:txBody>
          <a:bodyPr wrap="square" rtlCol="0" anchor="ctr"/>
          <a:lstStyle/>
          <a:p>
            <a:pPr indent="0" marL="0">
              <a:lnSpc>
                <a:spcPct val="135000"/>
              </a:lnSpc>
              <a:buNone/>
            </a:pPr>
            <a:r>
              <a:rPr lang="en-US" sz="1400" dirty="0">
                <a:solidFill>
                  <a:srgbClr val="373D47"/>
                </a:solidFill>
                <a:latin typeface="Arial" pitchFamily="34" charset="0"/>
                <a:ea typeface="Arial" pitchFamily="34" charset="-122"/>
                <a:cs typeface="Arial" pitchFamily="34" charset="-120"/>
              </a:rPr>
              <a:t>Most teams triage - they only look at the notices that seem important. That is how the expensive ones get missed. At this price you read all of them.</a:t>
            </a:r>
            <a:endParaRPr lang="en-US" sz="1400" dirty="0"/>
          </a:p>
        </p:txBody>
      </p:sp>
      <p:sp>
        <p:nvSpPr>
          <p:cNvPr id="5" name="Shape 3"/>
          <p:cNvSpPr/>
          <p:nvPr/>
        </p:nvSpPr>
        <p:spPr>
          <a:xfrm>
            <a:off x="777240" y="3063240"/>
            <a:ext cx="10607040" cy="10973"/>
          </a:xfrm>
          <a:prstGeom prst="rect">
            <a:avLst/>
          </a:prstGeom>
          <a:solidFill>
            <a:srgbClr val="DFE1E5"/>
          </a:solidFill>
          <a:ln w="12700">
            <a:solidFill>
              <a:srgbClr val="333333"/>
            </a:solidFill>
            <a:prstDash val="solid"/>
          </a:ln>
        </p:spPr>
      </p:sp>
      <p:sp>
        <p:nvSpPr>
          <p:cNvPr id="6" name="Text 4"/>
          <p:cNvSpPr/>
          <p:nvPr/>
        </p:nvSpPr>
        <p:spPr>
          <a:xfrm>
            <a:off x="777240" y="3291840"/>
            <a:ext cx="2743200" cy="731520"/>
          </a:xfrm>
          <a:prstGeom prst="rect">
            <a:avLst/>
          </a:prstGeom>
          <a:noFill/>
          <a:ln/>
        </p:spPr>
        <p:txBody>
          <a:bodyPr wrap="square" rtlCol="0" anchor="ctr"/>
          <a:lstStyle/>
          <a:p>
            <a:pPr indent="0" marL="0">
              <a:buNone/>
            </a:pPr>
            <a:r>
              <a:rPr lang="en-US" sz="3200" b="1" dirty="0">
                <a:solidFill>
                  <a:srgbClr val="D62D12"/>
                </a:solidFill>
                <a:latin typeface="Arial" pitchFamily="34" charset="0"/>
                <a:ea typeface="Arial" pitchFamily="34" charset="-122"/>
                <a:cs typeface="Arial" pitchFamily="34" charset="-120"/>
              </a:rPr>
              <a:t>$0.00012</a:t>
            </a:r>
            <a:endParaRPr lang="en-US" sz="3200" dirty="0"/>
          </a:p>
        </p:txBody>
      </p:sp>
      <p:sp>
        <p:nvSpPr>
          <p:cNvPr id="7" name="Text 5"/>
          <p:cNvSpPr/>
          <p:nvPr/>
        </p:nvSpPr>
        <p:spPr>
          <a:xfrm>
            <a:off x="777240" y="4041648"/>
            <a:ext cx="274320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a complete assessment</a:t>
            </a:r>
            <a:endParaRPr lang="en-US" sz="1250" dirty="0"/>
          </a:p>
        </p:txBody>
      </p:sp>
      <p:sp>
        <p:nvSpPr>
          <p:cNvPr id="8" name="Text 6"/>
          <p:cNvSpPr/>
          <p:nvPr/>
        </p:nvSpPr>
        <p:spPr>
          <a:xfrm>
            <a:off x="3611880" y="3291840"/>
            <a:ext cx="2377440" cy="731520"/>
          </a:xfrm>
          <a:prstGeom prst="rect">
            <a:avLst/>
          </a:prstGeom>
          <a:noFill/>
          <a:ln/>
        </p:spPr>
        <p:txBody>
          <a:bodyPr wrap="square" rtlCol="0" anchor="ctr"/>
          <a:lstStyle/>
          <a:p>
            <a:pPr indent="0" marL="0">
              <a:buNone/>
            </a:pPr>
            <a:r>
              <a:rPr lang="en-US" sz="3200" b="1" dirty="0">
                <a:solidFill>
                  <a:srgbClr val="111317"/>
                </a:solidFill>
                <a:latin typeface="Arial" pitchFamily="34" charset="0"/>
                <a:ea typeface="Arial" pitchFamily="34" charset="-122"/>
                <a:cs typeface="Arial" pitchFamily="34" charset="-120"/>
              </a:rPr>
              <a:t>27s</a:t>
            </a:r>
            <a:endParaRPr lang="en-US" sz="3200" dirty="0"/>
          </a:p>
        </p:txBody>
      </p:sp>
      <p:sp>
        <p:nvSpPr>
          <p:cNvPr id="9" name="Text 7"/>
          <p:cNvSpPr/>
          <p:nvPr/>
        </p:nvSpPr>
        <p:spPr>
          <a:xfrm>
            <a:off x="3611880" y="4041648"/>
            <a:ext cx="237744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a scanned notice, end to end</a:t>
            </a:r>
            <a:endParaRPr lang="en-US" sz="1250" dirty="0"/>
          </a:p>
        </p:txBody>
      </p:sp>
      <p:sp>
        <p:nvSpPr>
          <p:cNvPr id="10" name="Text 8"/>
          <p:cNvSpPr/>
          <p:nvPr/>
        </p:nvSpPr>
        <p:spPr>
          <a:xfrm>
            <a:off x="6172200" y="3291840"/>
            <a:ext cx="2377440" cy="731520"/>
          </a:xfrm>
          <a:prstGeom prst="rect">
            <a:avLst/>
          </a:prstGeom>
          <a:noFill/>
          <a:ln/>
        </p:spPr>
        <p:txBody>
          <a:bodyPr wrap="square" rtlCol="0" anchor="ctr"/>
          <a:lstStyle/>
          <a:p>
            <a:pPr indent="0" marL="0">
              <a:buNone/>
            </a:pPr>
            <a:r>
              <a:rPr lang="en-US" sz="3200" b="1" dirty="0">
                <a:solidFill>
                  <a:srgbClr val="111317"/>
                </a:solidFill>
                <a:latin typeface="Arial" pitchFamily="34" charset="0"/>
                <a:ea typeface="Arial" pitchFamily="34" charset="-122"/>
                <a:cs typeface="Arial" pitchFamily="34" charset="-120"/>
              </a:rPr>
              <a:t>0</a:t>
            </a:r>
            <a:endParaRPr lang="en-US" sz="3200" dirty="0"/>
          </a:p>
        </p:txBody>
      </p:sp>
      <p:sp>
        <p:nvSpPr>
          <p:cNvPr id="11" name="Text 9"/>
          <p:cNvSpPr/>
          <p:nvPr/>
        </p:nvSpPr>
        <p:spPr>
          <a:xfrm>
            <a:off x="6172200" y="4041648"/>
            <a:ext cx="237744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credits when the form says it plainly</a:t>
            </a:r>
            <a:endParaRPr lang="en-US" sz="1250" dirty="0"/>
          </a:p>
        </p:txBody>
      </p:sp>
      <p:sp>
        <p:nvSpPr>
          <p:cNvPr id="12" name="Text 10"/>
          <p:cNvSpPr/>
          <p:nvPr/>
        </p:nvSpPr>
        <p:spPr>
          <a:xfrm>
            <a:off x="8732520" y="3291840"/>
            <a:ext cx="2560320" cy="731520"/>
          </a:xfrm>
          <a:prstGeom prst="rect">
            <a:avLst/>
          </a:prstGeom>
          <a:noFill/>
          <a:ln/>
        </p:spPr>
        <p:txBody>
          <a:bodyPr wrap="square" rtlCol="0" anchor="ctr"/>
          <a:lstStyle/>
          <a:p>
            <a:pPr indent="0" marL="0">
              <a:buNone/>
            </a:pPr>
            <a:r>
              <a:rPr lang="en-US" sz="3200" b="1" dirty="0">
                <a:solidFill>
                  <a:srgbClr val="111317"/>
                </a:solidFill>
                <a:latin typeface="Arial" pitchFamily="34" charset="0"/>
                <a:ea typeface="Arial" pitchFamily="34" charset="-122"/>
                <a:cs typeface="Arial" pitchFamily="34" charset="-120"/>
              </a:rPr>
              <a:t>60s</a:t>
            </a:r>
            <a:endParaRPr lang="en-US" sz="3200" dirty="0"/>
          </a:p>
        </p:txBody>
      </p:sp>
      <p:sp>
        <p:nvSpPr>
          <p:cNvPr id="13" name="Text 11"/>
          <p:cNvSpPr/>
          <p:nvPr/>
        </p:nvSpPr>
        <p:spPr>
          <a:xfrm>
            <a:off x="8732520" y="4041648"/>
            <a:ext cx="2560320" cy="640080"/>
          </a:xfrm>
          <a:prstGeom prst="rect">
            <a:avLst/>
          </a:prstGeom>
          <a:noFill/>
          <a:ln/>
        </p:spPr>
        <p:txBody>
          <a:bodyPr wrap="square" rtlCol="0" anchor="ctr"/>
          <a:lstStyle/>
          <a:p>
            <a:pPr indent="0" marL="0">
              <a:lnSpc>
                <a:spcPct val="120000"/>
              </a:lnSpc>
              <a:buNone/>
            </a:pPr>
            <a:r>
              <a:rPr lang="en-US" sz="1250" dirty="0">
                <a:solidFill>
                  <a:srgbClr val="5C636E"/>
                </a:solidFill>
                <a:latin typeface="Arial" pitchFamily="34" charset="0"/>
                <a:ea typeface="Arial" pitchFamily="34" charset="-122"/>
                <a:cs typeface="Arial" pitchFamily="34" charset="-120"/>
              </a:rPr>
              <a:t>the request limit we had to fit inside</a:t>
            </a:r>
            <a:endParaRPr lang="en-US" sz="1250" dirty="0"/>
          </a:p>
        </p:txBody>
      </p:sp>
      <p:sp>
        <p:nvSpPr>
          <p:cNvPr id="14" name="Text 12"/>
          <p:cNvSpPr/>
          <p:nvPr/>
        </p:nvSpPr>
        <p:spPr>
          <a:xfrm>
            <a:off x="777240" y="5074920"/>
            <a:ext cx="10607040" cy="365760"/>
          </a:xfrm>
          <a:prstGeom prst="rect">
            <a:avLst/>
          </a:prstGeom>
          <a:noFill/>
          <a:ln/>
        </p:spPr>
        <p:txBody>
          <a:bodyPr wrap="square" rtlCol="0" anchor="ctr"/>
          <a:lstStyle/>
          <a:p>
            <a:pPr indent="0" marL="0">
              <a:buNone/>
            </a:pPr>
            <a:r>
              <a:rPr lang="en-US" sz="1300" dirty="0">
                <a:solidFill>
                  <a:srgbClr val="111317"/>
                </a:solidFill>
                <a:latin typeface="Arial" pitchFamily="34" charset="0"/>
                <a:ea typeface="Arial" pitchFamily="34" charset="-122"/>
                <a:cs typeface="Arial" pitchFamily="34" charset="-120"/>
              </a:rPr>
              <a:t>Every stage reports its own cost on screen, so nobody has to take our word for it.</a:t>
            </a:r>
            <a:endParaRPr lang="en-US" sz="1300" dirty="0"/>
          </a:p>
        </p:txBody>
      </p:sp>
      <p:sp>
        <p:nvSpPr>
          <p:cNvPr id="15" name="Shape 13"/>
          <p:cNvSpPr/>
          <p:nvPr/>
        </p:nvSpPr>
        <p:spPr>
          <a:xfrm>
            <a:off x="777240" y="5998464"/>
            <a:ext cx="10637215" cy="10973"/>
          </a:xfrm>
          <a:prstGeom prst="rect">
            <a:avLst/>
          </a:prstGeom>
          <a:solidFill>
            <a:srgbClr val="DFE1E5"/>
          </a:solidFill>
          <a:ln w="12700">
            <a:solidFill>
              <a:srgbClr val="333333"/>
            </a:solidFill>
            <a:prstDash val="solid"/>
          </a:ln>
        </p:spPr>
      </p:sp>
      <p:sp>
        <p:nvSpPr>
          <p:cNvPr id="16" name="Text 14"/>
          <p:cNvSpPr/>
          <p:nvPr/>
        </p:nvSpPr>
        <p:spPr>
          <a:xfrm>
            <a:off x="7772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MODEL</a:t>
            </a:r>
            <a:endParaRPr lang="en-US" sz="900" dirty="0"/>
          </a:p>
        </p:txBody>
      </p:sp>
      <p:sp>
        <p:nvSpPr>
          <p:cNvPr id="17" name="Text 15"/>
          <p:cNvSpPr/>
          <p:nvPr/>
        </p:nvSpPr>
        <p:spPr>
          <a:xfrm>
            <a:off x="14904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Gemma-4-31B-IT</a:t>
            </a:r>
            <a:endParaRPr lang="en-US" sz="1000" dirty="0"/>
          </a:p>
        </p:txBody>
      </p:sp>
      <p:sp>
        <p:nvSpPr>
          <p:cNvPr id="18" name="Text 16"/>
          <p:cNvSpPr/>
          <p:nvPr/>
        </p:nvSpPr>
        <p:spPr>
          <a:xfrm>
            <a:off x="35204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ON</a:t>
            </a:r>
            <a:endParaRPr lang="en-US" sz="900" dirty="0"/>
          </a:p>
        </p:txBody>
      </p:sp>
      <p:sp>
        <p:nvSpPr>
          <p:cNvPr id="19" name="Text 17"/>
          <p:cNvSpPr/>
          <p:nvPr/>
        </p:nvSpPr>
        <p:spPr>
          <a:xfrm>
            <a:off x="42336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AMD Instinct</a:t>
            </a:r>
            <a:endParaRPr lang="en-US" sz="1000" dirty="0"/>
          </a:p>
        </p:txBody>
      </p:sp>
      <p:sp>
        <p:nvSpPr>
          <p:cNvPr id="20" name="Text 18"/>
          <p:cNvSpPr/>
          <p:nvPr/>
        </p:nvSpPr>
        <p:spPr>
          <a:xfrm>
            <a:off x="62636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VIA</a:t>
            </a:r>
            <a:endParaRPr lang="en-US" sz="900" dirty="0"/>
          </a:p>
        </p:txBody>
      </p:sp>
      <p:sp>
        <p:nvSpPr>
          <p:cNvPr id="21" name="Text 19"/>
          <p:cNvSpPr/>
          <p:nvPr/>
        </p:nvSpPr>
        <p:spPr>
          <a:xfrm>
            <a:off x="69768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Evolus / lychee</a:t>
            </a:r>
            <a:endParaRPr lang="en-US" sz="1000" dirty="0"/>
          </a:p>
        </p:txBody>
      </p:sp>
      <p:sp>
        <p:nvSpPr>
          <p:cNvPr id="22" name="Text 20"/>
          <p:cNvSpPr/>
          <p:nvPr/>
        </p:nvSpPr>
        <p:spPr>
          <a:xfrm>
            <a:off x="9006840" y="6199632"/>
            <a:ext cx="777240" cy="237744"/>
          </a:xfrm>
          <a:prstGeom prst="rect">
            <a:avLst/>
          </a:prstGeom>
          <a:noFill/>
          <a:ln/>
        </p:spPr>
        <p:txBody>
          <a:bodyPr wrap="square" rtlCol="0" anchor="ctr"/>
          <a:lstStyle/>
          <a:p>
            <a:pPr indent="0" marL="0">
              <a:buNone/>
            </a:pPr>
            <a:r>
              <a:rPr lang="en-US" sz="900" b="1" spc="160" kern="0" dirty="0">
                <a:solidFill>
                  <a:srgbClr val="5C636E"/>
                </a:solidFill>
                <a:latin typeface="Arial" pitchFamily="34" charset="0"/>
                <a:ea typeface="Arial" pitchFamily="34" charset="-122"/>
                <a:cs typeface="Arial" pitchFamily="34" charset="-120"/>
              </a:rPr>
              <a:t>ENGINE</a:t>
            </a:r>
            <a:endParaRPr lang="en-US" sz="900" dirty="0"/>
          </a:p>
        </p:txBody>
      </p:sp>
      <p:sp>
        <p:nvSpPr>
          <p:cNvPr id="23" name="Text 21"/>
          <p:cNvSpPr/>
          <p:nvPr/>
        </p:nvSpPr>
        <p:spPr>
          <a:xfrm>
            <a:off x="9720072" y="6199632"/>
            <a:ext cx="2103120" cy="237744"/>
          </a:xfrm>
          <a:prstGeom prst="rect">
            <a:avLst/>
          </a:prstGeom>
          <a:noFill/>
          <a:ln/>
        </p:spPr>
        <p:txBody>
          <a:bodyPr wrap="square" rtlCol="0" anchor="ctr"/>
          <a:lstStyle/>
          <a:p>
            <a:pPr indent="0" marL="0">
              <a:buNone/>
            </a:pPr>
            <a:r>
              <a:rPr lang="en-US" sz="1000" dirty="0">
                <a:solidFill>
                  <a:srgbClr val="373D47"/>
                </a:solidFill>
                <a:latin typeface="Consolas" pitchFamily="34" charset="0"/>
                <a:ea typeface="Consolas" pitchFamily="34" charset="-122"/>
                <a:cs typeface="Consolas" pitchFamily="34" charset="-120"/>
              </a:rPr>
              <a:t>no model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90B"/>
        </a:solidFill>
      </p:bgPr>
    </p:bg>
    <p:spTree>
      <p:nvGrpSpPr>
        <p:cNvPr id="1" name=""/>
        <p:cNvGrpSpPr/>
        <p:nvPr/>
      </p:nvGrpSpPr>
      <p:grpSpPr>
        <a:xfrm>
          <a:off x="0" y="0"/>
          <a:ext cx="0" cy="0"/>
          <a:chOff x="0" y="0"/>
          <a:chExt cx="0" cy="0"/>
        </a:xfrm>
      </p:grpSpPr>
      <p:sp>
        <p:nvSpPr>
          <p:cNvPr id="2" name="Text 0"/>
          <p:cNvSpPr/>
          <p:nvPr/>
        </p:nvSpPr>
        <p:spPr>
          <a:xfrm>
            <a:off x="777240" y="731520"/>
            <a:ext cx="5486400" cy="548640"/>
          </a:xfrm>
          <a:prstGeom prst="rect">
            <a:avLst/>
          </a:prstGeom>
          <a:noFill/>
          <a:ln/>
        </p:spPr>
        <p:txBody>
          <a:bodyPr wrap="square" rtlCol="0" anchor="ctr"/>
          <a:lstStyle/>
          <a:p>
            <a:pPr indent="0" marL="0">
              <a:buNone/>
            </a:pPr>
            <a:r>
              <a:rPr lang="en-US" sz="3000" b="1" dirty="0">
                <a:solidFill>
                  <a:srgbClr val="F6F7F9"/>
                </a:solidFill>
                <a:latin typeface="Arial" pitchFamily="34" charset="0"/>
                <a:ea typeface="Arial" pitchFamily="34" charset="-122"/>
                <a:cs typeface="Arial" pitchFamily="34" charset="-120"/>
              </a:rPr>
              <a:t>Contributions</a:t>
            </a:r>
            <a:endParaRPr lang="en-US" sz="3000" dirty="0"/>
          </a:p>
        </p:txBody>
      </p:sp>
      <p:sp>
        <p:nvSpPr>
          <p:cNvPr id="3" name="Text 1"/>
          <p:cNvSpPr/>
          <p:nvPr/>
        </p:nvSpPr>
        <p:spPr>
          <a:xfrm>
            <a:off x="777240" y="1325880"/>
            <a:ext cx="5486400" cy="320040"/>
          </a:xfrm>
          <a:prstGeom prst="rect">
            <a:avLst/>
          </a:prstGeom>
          <a:noFill/>
          <a:ln/>
        </p:spPr>
        <p:txBody>
          <a:bodyPr wrap="square" rtlCol="0" anchor="ctr"/>
          <a:lstStyle/>
          <a:p>
            <a:pPr indent="0" marL="0">
              <a:buNone/>
            </a:pPr>
            <a:r>
              <a:rPr lang="en-US" sz="1400" dirty="0">
                <a:solidFill>
                  <a:srgbClr val="B2BBC5"/>
                </a:solidFill>
                <a:latin typeface="Arial" pitchFamily="34" charset="0"/>
                <a:ea typeface="Arial" pitchFamily="34" charset="-122"/>
                <a:cs typeface="Arial" pitchFamily="34" charset="-120"/>
              </a:rPr>
              <a:t>What this is actually for.</a:t>
            </a:r>
            <a:endParaRPr lang="en-US" sz="1400" dirty="0"/>
          </a:p>
        </p:txBody>
      </p:sp>
      <p:sp>
        <p:nvSpPr>
          <p:cNvPr id="4" name="Shape 2"/>
          <p:cNvSpPr/>
          <p:nvPr/>
        </p:nvSpPr>
        <p:spPr>
          <a:xfrm>
            <a:off x="777240" y="1792224"/>
            <a:ext cx="5486400" cy="10973"/>
          </a:xfrm>
          <a:prstGeom prst="rect">
            <a:avLst/>
          </a:prstGeom>
          <a:solidFill>
            <a:srgbClr val="262A31"/>
          </a:solidFill>
          <a:ln w="12700">
            <a:solidFill>
              <a:srgbClr val="333333"/>
            </a:solidFill>
            <a:prstDash val="solid"/>
          </a:ln>
        </p:spPr>
      </p:sp>
      <p:sp>
        <p:nvSpPr>
          <p:cNvPr id="5" name="Text 3"/>
          <p:cNvSpPr/>
          <p:nvPr/>
        </p:nvSpPr>
        <p:spPr>
          <a:xfrm>
            <a:off x="777240" y="1920240"/>
            <a:ext cx="5486400" cy="274320"/>
          </a:xfrm>
          <a:prstGeom prst="rect">
            <a:avLst/>
          </a:prstGeom>
          <a:noFill/>
          <a:ln/>
        </p:spPr>
        <p:txBody>
          <a:bodyPr wrap="square" rtlCol="0" anchor="ctr"/>
          <a:lstStyle/>
          <a:p>
            <a:pPr indent="0" marL="0">
              <a:buNone/>
            </a:pPr>
            <a:r>
              <a:rPr lang="en-US" sz="1450" b="1" dirty="0">
                <a:solidFill>
                  <a:srgbClr val="FF5A3D"/>
                </a:solidFill>
                <a:latin typeface="Arial" pitchFamily="34" charset="0"/>
                <a:ea typeface="Arial" pitchFamily="34" charset="-122"/>
                <a:cs typeface="Arial" pitchFamily="34" charset="-120"/>
              </a:rPr>
              <a:t>Keeps products alive</a:t>
            </a:r>
            <a:endParaRPr lang="en-US" sz="1450" dirty="0"/>
          </a:p>
        </p:txBody>
      </p:sp>
      <p:sp>
        <p:nvSpPr>
          <p:cNvPr id="6" name="Text 4"/>
          <p:cNvSpPr/>
          <p:nvPr/>
        </p:nvSpPr>
        <p:spPr>
          <a:xfrm>
            <a:off x="777240" y="2231136"/>
            <a:ext cx="5486400" cy="566928"/>
          </a:xfrm>
          <a:prstGeom prst="rect">
            <a:avLst/>
          </a:prstGeom>
          <a:noFill/>
          <a:ln/>
        </p:spPr>
        <p:txBody>
          <a:bodyPr wrap="square" rtlCol="0" anchor="ctr"/>
          <a:lstStyle/>
          <a:p>
            <a:pPr indent="0" marL="0">
              <a:lnSpc>
                <a:spcPct val="128000"/>
              </a:lnSpc>
              <a:buNone/>
            </a:pPr>
            <a:r>
              <a:rPr lang="en-US" sz="1150" dirty="0">
                <a:solidFill>
                  <a:srgbClr val="D6DBE2"/>
                </a:solidFill>
                <a:latin typeface="Arial" pitchFamily="34" charset="0"/>
                <a:ea typeface="Arial" pitchFamily="34" charset="-122"/>
                <a:cs typeface="Arial" pitchFamily="34" charset="-120"/>
              </a:rPr>
              <a:t>A missed last-time buy ends a product line. Nobody meant to miss it - they just could not work it out in time.</a:t>
            </a:r>
            <a:endParaRPr lang="en-US" sz="1150" dirty="0"/>
          </a:p>
        </p:txBody>
      </p:sp>
      <p:sp>
        <p:nvSpPr>
          <p:cNvPr id="7" name="Shape 5"/>
          <p:cNvSpPr/>
          <p:nvPr/>
        </p:nvSpPr>
        <p:spPr>
          <a:xfrm>
            <a:off x="777240" y="2871216"/>
            <a:ext cx="5486400" cy="10973"/>
          </a:xfrm>
          <a:prstGeom prst="rect">
            <a:avLst/>
          </a:prstGeom>
          <a:solidFill>
            <a:srgbClr val="262A31"/>
          </a:solidFill>
          <a:ln w="12700">
            <a:solidFill>
              <a:srgbClr val="333333"/>
            </a:solidFill>
            <a:prstDash val="solid"/>
          </a:ln>
        </p:spPr>
      </p:sp>
      <p:sp>
        <p:nvSpPr>
          <p:cNvPr id="8" name="Text 6"/>
          <p:cNvSpPr/>
          <p:nvPr/>
        </p:nvSpPr>
        <p:spPr>
          <a:xfrm>
            <a:off x="777240" y="2999232"/>
            <a:ext cx="5486400" cy="274320"/>
          </a:xfrm>
          <a:prstGeom prst="rect">
            <a:avLst/>
          </a:prstGeom>
          <a:noFill/>
          <a:ln/>
        </p:spPr>
        <p:txBody>
          <a:bodyPr wrap="square" rtlCol="0" anchor="ctr"/>
          <a:lstStyle/>
          <a:p>
            <a:pPr indent="0" marL="0">
              <a:buNone/>
            </a:pPr>
            <a:r>
              <a:rPr lang="en-US" sz="1450" b="1" dirty="0">
                <a:solidFill>
                  <a:srgbClr val="FF5A3D"/>
                </a:solidFill>
                <a:latin typeface="Arial" pitchFamily="34" charset="0"/>
                <a:ea typeface="Arial" pitchFamily="34" charset="-122"/>
                <a:cs typeface="Arial" pitchFamily="34" charset="-120"/>
              </a:rPr>
              <a:t>Not only for big firms</a:t>
            </a:r>
            <a:endParaRPr lang="en-US" sz="1450" dirty="0"/>
          </a:p>
        </p:txBody>
      </p:sp>
      <p:sp>
        <p:nvSpPr>
          <p:cNvPr id="9" name="Text 7"/>
          <p:cNvSpPr/>
          <p:nvPr/>
        </p:nvSpPr>
        <p:spPr>
          <a:xfrm>
            <a:off x="777240" y="3310128"/>
            <a:ext cx="5486400" cy="566928"/>
          </a:xfrm>
          <a:prstGeom prst="rect">
            <a:avLst/>
          </a:prstGeom>
          <a:noFill/>
          <a:ln/>
        </p:spPr>
        <p:txBody>
          <a:bodyPr wrap="square" rtlCol="0" anchor="ctr"/>
          <a:lstStyle/>
          <a:p>
            <a:pPr indent="0" marL="0">
              <a:lnSpc>
                <a:spcPct val="128000"/>
              </a:lnSpc>
              <a:buNone/>
            </a:pPr>
            <a:r>
              <a:rPr lang="en-US" sz="1150" dirty="0">
                <a:solidFill>
                  <a:srgbClr val="D6DBE2"/>
                </a:solidFill>
                <a:latin typeface="Arial" pitchFamily="34" charset="0"/>
                <a:ea typeface="Arial" pitchFamily="34" charset="-122"/>
                <a:cs typeface="Arial" pitchFamily="34" charset="-120"/>
              </a:rPr>
              <a:t>A hundredth of a cent a notice, and your own spreadsheet is the input. No enterprise licence, no data migration.</a:t>
            </a:r>
            <a:endParaRPr lang="en-US" sz="1150" dirty="0"/>
          </a:p>
        </p:txBody>
      </p:sp>
      <p:sp>
        <p:nvSpPr>
          <p:cNvPr id="10" name="Shape 8"/>
          <p:cNvSpPr/>
          <p:nvPr/>
        </p:nvSpPr>
        <p:spPr>
          <a:xfrm>
            <a:off x="777240" y="3950208"/>
            <a:ext cx="5486400" cy="10973"/>
          </a:xfrm>
          <a:prstGeom prst="rect">
            <a:avLst/>
          </a:prstGeom>
          <a:solidFill>
            <a:srgbClr val="262A31"/>
          </a:solidFill>
          <a:ln w="12700">
            <a:solidFill>
              <a:srgbClr val="333333"/>
            </a:solidFill>
            <a:prstDash val="solid"/>
          </a:ln>
        </p:spPr>
      </p:sp>
      <p:sp>
        <p:nvSpPr>
          <p:cNvPr id="11" name="Text 9"/>
          <p:cNvSpPr/>
          <p:nvPr/>
        </p:nvSpPr>
        <p:spPr>
          <a:xfrm>
            <a:off x="777240" y="4078224"/>
            <a:ext cx="5486400" cy="274320"/>
          </a:xfrm>
          <a:prstGeom prst="rect">
            <a:avLst/>
          </a:prstGeom>
          <a:noFill/>
          <a:ln/>
        </p:spPr>
        <p:txBody>
          <a:bodyPr wrap="square" rtlCol="0" anchor="ctr"/>
          <a:lstStyle/>
          <a:p>
            <a:pPr indent="0" marL="0">
              <a:buNone/>
            </a:pPr>
            <a:r>
              <a:rPr lang="en-US" sz="1450" b="1" dirty="0">
                <a:solidFill>
                  <a:srgbClr val="FF5A3D"/>
                </a:solidFill>
                <a:latin typeface="Arial" pitchFamily="34" charset="0"/>
                <a:ea typeface="Arial" pitchFamily="34" charset="-122"/>
                <a:cs typeface="Arial" pitchFamily="34" charset="-120"/>
              </a:rPr>
              <a:t>Numbers you can check</a:t>
            </a:r>
            <a:endParaRPr lang="en-US" sz="1450" dirty="0"/>
          </a:p>
        </p:txBody>
      </p:sp>
      <p:sp>
        <p:nvSpPr>
          <p:cNvPr id="12" name="Text 10"/>
          <p:cNvSpPr/>
          <p:nvPr/>
        </p:nvSpPr>
        <p:spPr>
          <a:xfrm>
            <a:off x="777240" y="4389120"/>
            <a:ext cx="5486400" cy="566928"/>
          </a:xfrm>
          <a:prstGeom prst="rect">
            <a:avLst/>
          </a:prstGeom>
          <a:noFill/>
          <a:ln/>
        </p:spPr>
        <p:txBody>
          <a:bodyPr wrap="square" rtlCol="0" anchor="ctr"/>
          <a:lstStyle/>
          <a:p>
            <a:pPr indent="0" marL="0">
              <a:lnSpc>
                <a:spcPct val="128000"/>
              </a:lnSpc>
              <a:buNone/>
            </a:pPr>
            <a:r>
              <a:rPr lang="en-US" sz="1150" dirty="0">
                <a:solidFill>
                  <a:srgbClr val="D6DBE2"/>
                </a:solidFill>
                <a:latin typeface="Arial" pitchFamily="34" charset="0"/>
                <a:ea typeface="Arial" pitchFamily="34" charset="-122"/>
                <a:cs typeface="Arial" pitchFamily="34" charset="-120"/>
              </a:rPr>
              <a:t>Every figure is arithmetic over your bill of materials. Nobody should sign a 1.4 million euro order on a model's word.</a:t>
            </a:r>
            <a:endParaRPr lang="en-US" sz="1150" dirty="0"/>
          </a:p>
        </p:txBody>
      </p:sp>
      <p:sp>
        <p:nvSpPr>
          <p:cNvPr id="13" name="Shape 11"/>
          <p:cNvSpPr/>
          <p:nvPr/>
        </p:nvSpPr>
        <p:spPr>
          <a:xfrm>
            <a:off x="777240" y="5029200"/>
            <a:ext cx="5486400" cy="10973"/>
          </a:xfrm>
          <a:prstGeom prst="rect">
            <a:avLst/>
          </a:prstGeom>
          <a:solidFill>
            <a:srgbClr val="262A31"/>
          </a:solidFill>
          <a:ln w="12700">
            <a:solidFill>
              <a:srgbClr val="333333"/>
            </a:solidFill>
            <a:prstDash val="solid"/>
          </a:ln>
        </p:spPr>
      </p:sp>
      <p:sp>
        <p:nvSpPr>
          <p:cNvPr id="14" name="Text 12"/>
          <p:cNvSpPr/>
          <p:nvPr/>
        </p:nvSpPr>
        <p:spPr>
          <a:xfrm>
            <a:off x="777240" y="5157216"/>
            <a:ext cx="5486400" cy="274320"/>
          </a:xfrm>
          <a:prstGeom prst="rect">
            <a:avLst/>
          </a:prstGeom>
          <a:noFill/>
          <a:ln/>
        </p:spPr>
        <p:txBody>
          <a:bodyPr wrap="square" rtlCol="0" anchor="ctr"/>
          <a:lstStyle/>
          <a:p>
            <a:pPr indent="0" marL="0">
              <a:buNone/>
            </a:pPr>
            <a:r>
              <a:rPr lang="en-US" sz="1450" b="1" dirty="0">
                <a:solidFill>
                  <a:srgbClr val="FF5A3D"/>
                </a:solidFill>
                <a:latin typeface="Arial" pitchFamily="34" charset="0"/>
                <a:ea typeface="Arial" pitchFamily="34" charset="-122"/>
                <a:cs typeface="Arial" pitchFamily="34" charset="-120"/>
              </a:rPr>
              <a:t>Less thrown away</a:t>
            </a:r>
            <a:endParaRPr lang="en-US" sz="1450" dirty="0"/>
          </a:p>
        </p:txBody>
      </p:sp>
      <p:sp>
        <p:nvSpPr>
          <p:cNvPr id="15" name="Text 13"/>
          <p:cNvSpPr/>
          <p:nvPr/>
        </p:nvSpPr>
        <p:spPr>
          <a:xfrm>
            <a:off x="777240" y="5468112"/>
            <a:ext cx="5486400" cy="566928"/>
          </a:xfrm>
          <a:prstGeom prst="rect">
            <a:avLst/>
          </a:prstGeom>
          <a:noFill/>
          <a:ln/>
        </p:spPr>
        <p:txBody>
          <a:bodyPr wrap="square" rtlCol="0" anchor="ctr"/>
          <a:lstStyle/>
          <a:p>
            <a:pPr indent="0" marL="0">
              <a:lnSpc>
                <a:spcPct val="128000"/>
              </a:lnSpc>
              <a:buNone/>
            </a:pPr>
            <a:r>
              <a:rPr lang="en-US" sz="1150" dirty="0">
                <a:solidFill>
                  <a:srgbClr val="D6DBE2"/>
                </a:solidFill>
                <a:latin typeface="Arial" pitchFamily="34" charset="0"/>
                <a:ea typeface="Arial" pitchFamily="34" charset="-122"/>
                <a:cs typeface="Arial" pitchFamily="34" charset="-120"/>
              </a:rPr>
              <a:t>Buy the quantity the maths gives you, not the panic order that gets scrapped three years later.</a:t>
            </a:r>
            <a:endParaRPr lang="en-US" sz="1150" dirty="0"/>
          </a:p>
        </p:txBody>
      </p:sp>
      <p:sp>
        <p:nvSpPr>
          <p:cNvPr id="16" name="Text 14"/>
          <p:cNvSpPr/>
          <p:nvPr/>
        </p:nvSpPr>
        <p:spPr>
          <a:xfrm>
            <a:off x="6858000" y="1737360"/>
            <a:ext cx="4572000" cy="2377440"/>
          </a:xfrm>
          <a:prstGeom prst="rect">
            <a:avLst/>
          </a:prstGeom>
          <a:noFill/>
          <a:ln/>
        </p:spPr>
        <p:txBody>
          <a:bodyPr wrap="square" rtlCol="0" anchor="ctr"/>
          <a:lstStyle/>
          <a:p>
            <a:pPr indent="0" marL="0">
              <a:lnSpc>
                <a:spcPct val="125000"/>
              </a:lnSpc>
              <a:buNone/>
            </a:pPr>
            <a:r>
              <a:rPr lang="en-US" sz="2000" b="1" dirty="0">
                <a:solidFill>
                  <a:srgbClr val="F6F7F9"/>
                </a:solidFill>
                <a:latin typeface="Arial" pitchFamily="34" charset="0"/>
                <a:ea typeface="Arial" pitchFamily="34" charset="-122"/>
                <a:cs typeface="Arial" pitchFamily="34" charset="-120"/>
              </a:rPr>
              <a:t>Obsolescence management is already an industry.
</a:t>
            </a:r>
            <a:pPr indent="0" marL="0">
              <a:lnSpc>
                <a:spcPct val="125000"/>
              </a:lnSpc>
              <a:buNone/>
            </a:pPr>
            <a:r>
              <a:rPr lang="en-US" sz="2000" b="1" dirty="0">
                <a:solidFill>
                  <a:srgbClr val="F6F7F9"/>
                </a:solidFill>
                <a:latin typeface="Arial" pitchFamily="34" charset="0"/>
                <a:ea typeface="Arial" pitchFamily="34" charset="-122"/>
                <a:cs typeface="Arial" pitchFamily="34" charset="-120"/>
              </a:rPr>
              <a:t>Every tool in it is a database you search.
</a:t>
            </a:r>
            <a:pPr indent="0" marL="0">
              <a:lnSpc>
                <a:spcPct val="125000"/>
              </a:lnSpc>
              <a:buNone/>
            </a:pPr>
            <a:r>
              <a:rPr lang="en-US" sz="2000" b="1" dirty="0">
                <a:solidFill>
                  <a:srgbClr val="FF5A3D"/>
                </a:solidFill>
                <a:latin typeface="Arial" pitchFamily="34" charset="0"/>
                <a:ea typeface="Arial" pitchFamily="34" charset="-122"/>
                <a:cs typeface="Arial" pitchFamily="34" charset="-120"/>
              </a:rPr>
              <a:t>This one reads the letter and tells you what breaks.</a:t>
            </a:r>
            <a:endParaRPr lang="en-US" sz="2000" dirty="0"/>
          </a:p>
        </p:txBody>
      </p:sp>
      <p:sp>
        <p:nvSpPr>
          <p:cNvPr id="17" name="Shape 15"/>
          <p:cNvSpPr/>
          <p:nvPr/>
        </p:nvSpPr>
        <p:spPr>
          <a:xfrm>
            <a:off x="6858000" y="4434840"/>
            <a:ext cx="4572000" cy="10973"/>
          </a:xfrm>
          <a:prstGeom prst="rect">
            <a:avLst/>
          </a:prstGeom>
          <a:solidFill>
            <a:srgbClr val="262A31"/>
          </a:solidFill>
          <a:ln w="12700">
            <a:solidFill>
              <a:srgbClr val="333333"/>
            </a:solidFill>
            <a:prstDash val="solid"/>
          </a:ln>
        </p:spPr>
      </p:sp>
      <p:sp>
        <p:nvSpPr>
          <p:cNvPr id="18" name="Text 16"/>
          <p:cNvSpPr/>
          <p:nvPr/>
        </p:nvSpPr>
        <p:spPr>
          <a:xfrm>
            <a:off x="6858000" y="4617720"/>
            <a:ext cx="2194560" cy="237744"/>
          </a:xfrm>
          <a:prstGeom prst="rect">
            <a:avLst/>
          </a:prstGeom>
          <a:noFill/>
          <a:ln/>
        </p:spPr>
        <p:txBody>
          <a:bodyPr wrap="square" rtlCol="0" anchor="ctr"/>
          <a:lstStyle/>
          <a:p>
            <a:pPr indent="0" marL="0">
              <a:buNone/>
            </a:pPr>
            <a:r>
              <a:rPr lang="en-US" sz="950" b="1" spc="140" kern="0" dirty="0">
                <a:solidFill>
                  <a:srgbClr val="B2BBC5"/>
                </a:solidFill>
                <a:latin typeface="Arial" pitchFamily="34" charset="0"/>
                <a:ea typeface="Arial" pitchFamily="34" charset="-122"/>
                <a:cs typeface="Arial" pitchFamily="34" charset="-120"/>
              </a:rPr>
              <a:t>LIVE</a:t>
            </a:r>
            <a:endParaRPr lang="en-US" sz="950" dirty="0"/>
          </a:p>
        </p:txBody>
      </p:sp>
      <p:sp>
        <p:nvSpPr>
          <p:cNvPr id="19" name="Text 17"/>
          <p:cNvSpPr/>
          <p:nvPr/>
        </p:nvSpPr>
        <p:spPr>
          <a:xfrm>
            <a:off x="8503920" y="4617720"/>
            <a:ext cx="2926080" cy="237744"/>
          </a:xfrm>
          <a:prstGeom prst="rect">
            <a:avLst/>
          </a:prstGeom>
          <a:noFill/>
          <a:ln/>
        </p:spPr>
        <p:txBody>
          <a:bodyPr wrap="square" rtlCol="0" anchor="ctr"/>
          <a:lstStyle/>
          <a:p>
            <a:pPr indent="0" marL="0">
              <a:buNone/>
            </a:pPr>
            <a:r>
              <a:rPr lang="en-US" sz="1150" dirty="0">
                <a:solidFill>
                  <a:srgbClr val="F6F7F9"/>
                </a:solidFill>
                <a:latin typeface="Consolas" pitchFamily="34" charset="0"/>
                <a:ea typeface="Consolas" pitchFamily="34" charset="-122"/>
                <a:cs typeface="Consolas" pitchFamily="34" charset="-120"/>
              </a:rPr>
              <a:t>lychee-seven.vercel.app</a:t>
            </a:r>
            <a:endParaRPr lang="en-US" sz="1150" dirty="0"/>
          </a:p>
        </p:txBody>
      </p:sp>
      <p:sp>
        <p:nvSpPr>
          <p:cNvPr id="20" name="Text 18"/>
          <p:cNvSpPr/>
          <p:nvPr/>
        </p:nvSpPr>
        <p:spPr>
          <a:xfrm>
            <a:off x="6858000" y="5001768"/>
            <a:ext cx="2194560" cy="237744"/>
          </a:xfrm>
          <a:prstGeom prst="rect">
            <a:avLst/>
          </a:prstGeom>
          <a:noFill/>
          <a:ln/>
        </p:spPr>
        <p:txBody>
          <a:bodyPr wrap="square" rtlCol="0" anchor="ctr"/>
          <a:lstStyle/>
          <a:p>
            <a:pPr indent="0" marL="0">
              <a:buNone/>
            </a:pPr>
            <a:r>
              <a:rPr lang="en-US" sz="950" b="1" spc="140" kern="0" dirty="0">
                <a:solidFill>
                  <a:srgbClr val="B2BBC5"/>
                </a:solidFill>
                <a:latin typeface="Arial" pitchFamily="34" charset="0"/>
                <a:ea typeface="Arial" pitchFamily="34" charset="-122"/>
                <a:cs typeface="Arial" pitchFamily="34" charset="-120"/>
              </a:rPr>
              <a:t>CODE</a:t>
            </a:r>
            <a:endParaRPr lang="en-US" sz="950" dirty="0"/>
          </a:p>
        </p:txBody>
      </p:sp>
      <p:sp>
        <p:nvSpPr>
          <p:cNvPr id="21" name="Text 19"/>
          <p:cNvSpPr/>
          <p:nvPr/>
        </p:nvSpPr>
        <p:spPr>
          <a:xfrm>
            <a:off x="8503920" y="5001768"/>
            <a:ext cx="2926080" cy="237744"/>
          </a:xfrm>
          <a:prstGeom prst="rect">
            <a:avLst/>
          </a:prstGeom>
          <a:noFill/>
          <a:ln/>
        </p:spPr>
        <p:txBody>
          <a:bodyPr wrap="square" rtlCol="0" anchor="ctr"/>
          <a:lstStyle/>
          <a:p>
            <a:pPr indent="0" marL="0">
              <a:buNone/>
            </a:pPr>
            <a:r>
              <a:rPr lang="en-US" sz="1150" dirty="0">
                <a:solidFill>
                  <a:srgbClr val="F6F7F9"/>
                </a:solidFill>
                <a:latin typeface="Consolas" pitchFamily="34" charset="0"/>
                <a:ea typeface="Consolas" pitchFamily="34" charset="-122"/>
                <a:cs typeface="Consolas" pitchFamily="34" charset="-120"/>
              </a:rPr>
              <a:t>github.com/bukhari-hamzamukhtar</a:t>
            </a:r>
            <a:endParaRPr lang="en-US" sz="1150" dirty="0"/>
          </a:p>
        </p:txBody>
      </p:sp>
      <p:sp>
        <p:nvSpPr>
          <p:cNvPr id="22" name="Text 20"/>
          <p:cNvSpPr/>
          <p:nvPr/>
        </p:nvSpPr>
        <p:spPr>
          <a:xfrm>
            <a:off x="6858000" y="5385816"/>
            <a:ext cx="2194560" cy="237744"/>
          </a:xfrm>
          <a:prstGeom prst="rect">
            <a:avLst/>
          </a:prstGeom>
          <a:noFill/>
          <a:ln/>
        </p:spPr>
        <p:txBody>
          <a:bodyPr wrap="square" rtlCol="0" anchor="ctr"/>
          <a:lstStyle/>
          <a:p>
            <a:pPr indent="0" marL="0">
              <a:buNone/>
            </a:pPr>
            <a:r>
              <a:rPr lang="en-US" sz="950" b="1" spc="140" kern="0" dirty="0">
                <a:solidFill>
                  <a:srgbClr val="B2BBC5"/>
                </a:solidFill>
                <a:latin typeface="Arial" pitchFamily="34" charset="0"/>
                <a:ea typeface="Arial" pitchFamily="34" charset="-122"/>
                <a:cs typeface="Arial" pitchFamily="34" charset="-120"/>
              </a:rPr>
              <a:t>EVOLUS WORKSPACE</a:t>
            </a:r>
            <a:endParaRPr lang="en-US" sz="950" dirty="0"/>
          </a:p>
        </p:txBody>
      </p:sp>
      <p:sp>
        <p:nvSpPr>
          <p:cNvPr id="23" name="Text 21"/>
          <p:cNvSpPr/>
          <p:nvPr/>
        </p:nvSpPr>
        <p:spPr>
          <a:xfrm>
            <a:off x="8503920" y="5385816"/>
            <a:ext cx="2926080" cy="237744"/>
          </a:xfrm>
          <a:prstGeom prst="rect">
            <a:avLst/>
          </a:prstGeom>
          <a:noFill/>
          <a:ln/>
        </p:spPr>
        <p:txBody>
          <a:bodyPr wrap="square" rtlCol="0" anchor="ctr"/>
          <a:lstStyle/>
          <a:p>
            <a:pPr indent="0" marL="0">
              <a:buNone/>
            </a:pPr>
            <a:r>
              <a:rPr lang="en-US" sz="1150" dirty="0">
                <a:solidFill>
                  <a:srgbClr val="F6F7F9"/>
                </a:solidFill>
                <a:latin typeface="Consolas" pitchFamily="34" charset="0"/>
                <a:ea typeface="Consolas" pitchFamily="34" charset="-122"/>
                <a:cs typeface="Consolas" pitchFamily="34" charset="-120"/>
              </a:rPr>
              <a:t>lychee</a:t>
            </a:r>
            <a:endParaRPr lang="en-US" sz="1150" dirty="0"/>
          </a:p>
        </p:txBody>
      </p:sp>
      <p:sp>
        <p:nvSpPr>
          <p:cNvPr id="24" name="Text 22"/>
          <p:cNvSpPr/>
          <p:nvPr/>
        </p:nvSpPr>
        <p:spPr>
          <a:xfrm>
            <a:off x="777240" y="6263640"/>
            <a:ext cx="10607040" cy="274320"/>
          </a:xfrm>
          <a:prstGeom prst="rect">
            <a:avLst/>
          </a:prstGeom>
          <a:noFill/>
          <a:ln/>
        </p:spPr>
        <p:txBody>
          <a:bodyPr wrap="square" rtlCol="0" anchor="ctr"/>
          <a:lstStyle/>
          <a:p>
            <a:pPr indent="0" marL="0">
              <a:buNone/>
            </a:pPr>
            <a:r>
              <a:rPr lang="en-US" sz="1100" dirty="0">
                <a:solidFill>
                  <a:srgbClr val="D6DBE2"/>
                </a:solidFill>
                <a:latin typeface="Arial" pitchFamily="34" charset="0"/>
                <a:ea typeface="Arial" pitchFamily="34" charset="-122"/>
                <a:cs typeface="Arial" pitchFamily="34" charset="-120"/>
              </a:rPr>
              <a:t>Gemma-4-31B-IT on AMD Instinct   ·   Evolus   ·   impact by graph traversal, not generation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LastBuy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LastBuy - know what a discontinued part breaks</dc:title>
  <dc:subject>PptxGenJS Presentation</dc:subject>
  <dc:creator>Hamza Mukhtar Bukhari</dc:creator>
  <cp:lastModifiedBy>Hamza Mukhtar Bukhari</cp:lastModifiedBy>
  <cp:revision>1</cp:revision>
  <dcterms:created xsi:type="dcterms:W3CDTF">2026-10-17T00:43:42Z</dcterms:created>
  <dcterms:modified xsi:type="dcterms:W3CDTF">2026-10-17T00:43:42Z</dcterms:modified>
</cp:coreProperties>
</file>