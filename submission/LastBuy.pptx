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87514cb-66d1-26aa-5cd1-fad58335c5c8}">
          <p14:sldIdLst>
            <p14:sldId id="256"/>
          </p14:sldIdLst>
        </p14:section>
        <p14:section name="Problem" id="{a2e26095-5f4d-e8fc-92f3-4168c7699333}">
          <p14:sldIdLst>
            <p14:sldId id="257"/>
          </p14:sldIdLst>
        </p14:section>
        <p14:section name="Finding" id="{4ee6c322-f03e-b3c6-b013-eb67ccdd444e}">
          <p14:sldIdLst>
            <p14:sldId id="258"/>
          </p14:sldIdLst>
        </p14:section>
        <p14:section name="How" id="{7114e49d-13ea-9cf2-bd24-10a33fd217e2}">
          <p14:sldIdLst>
            <p14:sldId id="259"/>
            <p14:sldId id="260"/>
          </p14:sldIdLst>
        </p14:section>
        <p14:section name="Agent" id="{7593d006-b84b-9450-789a-e56b8386f6d9}">
          <p14:sldIdLst>
            <p14:sldId id="261"/>
          </p14:sldIdLst>
        </p14:section>
        <p14:section name="Product" id="{bd1f8267-38d2-2119-612e-4e1977f0dd5f}">
          <p14:sldIdLst>
            <p14:sldId id="262"/>
            <p14:sldId id="263"/>
          </p14:sldIdLst>
        </p14:section>
        <p14:section name="Case" id="{456f9c12-7418-914b-ad88-e7f0368b47e1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 obsolescence. Say the problem, not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German sit on screen. The language barrier is the real obstacle.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pitch. Pause on 4.7 against 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stages, about 9 Evolus credits and $0.00012 of AMD inference per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originality argument. Everyone else built RAG over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cut this from the video. It is the trust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paths are the point. Any number on this screen can be checked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 and both drafts run concurrently, so wall clock is under the sum.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number. No thank-you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8869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5000"/>
              </a:lnSpc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LastBuy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566160"/>
            <a:ext cx="886968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tx2"/>
                </a:solidFill>
              </a:rPr>
              <a:t>A supplier gives you 34 days. After that, the part can never be bought again.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AMD Developer Hackathon: ACT III   ·   Intelligent Industry   ·   Evolus Business Agents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factory gets these, and nobody can read them</a:t>
            </a:r>
            <a:endParaRPr lang="en-US" sz="3600" dirty="0"/>
          </a:p>
        </p:txBody>
      </p:sp>
      <p:sp>
        <p:nvSpPr>
          <p:cNvPr id="3" name="notice"/>
          <p:cNvSpPr/>
          <p:nvPr/>
        </p:nvSpPr>
        <p:spPr>
          <a:xfrm>
            <a:off x="640080" y="155448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PRODUKT-ABKUENDIGUNG (PDN 26_4471)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9456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 informieren Sie, dass das Bauteil ADUM1201ARZ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(Dual-Channel Digital-Isolator) abgekuendigt wird.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Letzter Bestelltermin (Last Time Buy):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17. November 2026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Ein direkter Ersatz ist derzeit nicht verfuegbar.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00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Then someone works out, by hand: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05740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finished products contain it, at every BOM level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many go into each one, by every route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customers hold supply contracts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Whether a certification names it as critical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many weeks of stock are left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How many to buy before the door closes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49377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0B429"/>
                </a:solidFill>
              </a:rPr>
              <a:t>Days of work, across several people, in spreadsheets.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nobody knew</a:t>
            </a:r>
            <a:endParaRPr lang="en-US" sz="3600" dirty="0"/>
          </a:p>
        </p:txBody>
      </p:sp>
      <p:sp>
        <p:nvSpPr>
          <p:cNvPr id="3" name="stat-Last buy in"/>
          <p:cNvSpPr/>
          <p:nvPr/>
        </p:nvSpPr>
        <p:spPr>
          <a:xfrm>
            <a:off x="640080" y="160020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64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LAST BUY 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756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EF"/>
                </a:solidFill>
              </a:rPr>
              <a:t>34 days</a:t>
            </a:r>
            <a:endParaRPr lang="en-US" sz="3400" dirty="0"/>
          </a:p>
        </p:txBody>
      </p:sp>
      <p:sp>
        <p:nvSpPr>
          <p:cNvPr id="6" name="stat-Stock runway"/>
          <p:cNvSpPr/>
          <p:nvPr/>
        </p:nvSpPr>
        <p:spPr>
          <a:xfrm>
            <a:off x="3383280" y="160020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764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STOCK RUNWAY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0756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616D"/>
                </a:solidFill>
              </a:rPr>
              <a:t>4.7 wk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752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lead time 26 wk</a:t>
            </a:r>
            <a:endParaRPr lang="en-US" sz="1200" dirty="0"/>
          </a:p>
        </p:txBody>
      </p:sp>
      <p:sp>
        <p:nvSpPr>
          <p:cNvPr id="10" name="stat-Must buy"/>
          <p:cNvSpPr/>
          <p:nvPr/>
        </p:nvSpPr>
        <p:spPr>
          <a:xfrm>
            <a:off x="6126480" y="160020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1764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MUST BUY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20756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EF"/>
                </a:solidFill>
              </a:rPr>
              <a:t>504,798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75234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EUR 1,433,626</a:t>
            </a:r>
            <a:endParaRPr lang="en-US" sz="1200" dirty="0"/>
          </a:p>
        </p:txBody>
      </p:sp>
      <p:sp>
        <p:nvSpPr>
          <p:cNvPr id="14" name="stat-Revenue at risk"/>
          <p:cNvSpPr/>
          <p:nvPr/>
        </p:nvSpPr>
        <p:spPr>
          <a:xfrm>
            <a:off x="8869680" y="1600200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98280" y="17647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REVENUE AT RISK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20756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9EF"/>
                </a:solidFill>
              </a:rPr>
              <a:t>EUR 9.06M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27523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per year</a:t>
            </a:r>
            <a:endParaRPr lang="en-US" sz="1200" dirty="0"/>
          </a:p>
        </p:txBody>
      </p:sp>
      <p:sp>
        <p:nvSpPr>
          <p:cNvPr id="18" name="finding"/>
          <p:cNvSpPr/>
          <p:nvPr/>
        </p:nvSpPr>
        <p:spPr>
          <a:xfrm>
            <a:off x="640080" y="356616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0120" y="37947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0616D"/>
                </a:solidFill>
              </a:rPr>
              <a:t>They were already 21 weeks short — and nothing in their process would have said so.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AA3B2"/>
                </a:solidFill>
              </a:rPr>
              <a:t>Four point seven weeks of cover against a twenty-six week lead time. That is true today, independently of the deadline in the letter.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ADUM1201ARZ · dual-channel digital isolator · reaches 5 products through 3 assemblies by 7 distinct BOM paths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Twenty seconds, end to end</a:t>
            </a:r>
            <a:endParaRPr lang="en-US" sz="3600" dirty="0"/>
          </a:p>
        </p:txBody>
      </p:sp>
      <p:sp>
        <p:nvSpPr>
          <p:cNvPr id="3" name="step-0"/>
          <p:cNvSpPr/>
          <p:nvPr/>
        </p:nvSpPr>
        <p:spPr>
          <a:xfrm>
            <a:off x="64008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translate + doc-structure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</a:rPr>
              <a:t>the notice, in any language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288036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06324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0B429"/>
                </a:solidFill>
              </a:rPr>
              <a:t>ENGINE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propagate through the BOM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</a:rPr>
              <a:t>exact arithmetic, no model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512064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0B429"/>
                </a:solidFill>
              </a:rPr>
              <a:t>AMD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30352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write the impact memo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0352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</a:rPr>
              <a:t>open model on AMD GPUs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736092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4380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54380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agent rules on certification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4380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</a:rPr>
              <a:t>cites the clause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9601200" y="1828800"/>
            <a:ext cx="2084832" cy="2286000"/>
          </a:xfrm>
          <a:prstGeom prst="roundRect">
            <a:avLst>
              <a:gd name="adj" fmla="val 3509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201168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2359152"/>
            <a:ext cx="1719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draft order + customer notice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784080" y="33375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</a:rPr>
              <a:t>nothing is sent</a:t>
            </a:r>
            <a:endParaRPr lang="en-US" sz="1100" dirty="0"/>
          </a:p>
        </p:txBody>
      </p:sp>
      <p:sp>
        <p:nvSpPr>
          <p:cNvPr id="23" name="gate"/>
          <p:cNvSpPr/>
          <p:nvPr/>
        </p:nvSpPr>
        <p:spPr>
          <a:xfrm>
            <a:off x="640080" y="443484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80060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D68C"/>
                </a:solidFill>
              </a:rPr>
              <a:t>Then it stops.  </a:t>
            </a:r>
            <a:pPr indent="0" marL="0">
              <a:buNone/>
            </a:pPr>
            <a:r>
              <a:rPr lang="en-US" sz="1700" dirty="0">
                <a:solidFill>
                  <a:srgbClr val="9AA3B2"/>
                </a:solidFill>
              </a:rPr>
              <a:t>A person commits the spend. The agent prepares the decision; it does not take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engine has no language model in it</a:t>
            </a:r>
            <a:endParaRPr lang="en-US" sz="3600" dirty="0"/>
          </a:p>
        </p:txBody>
      </p:sp>
      <p:sp>
        <p:nvSpPr>
          <p:cNvPr id="3" name="paths"/>
          <p:cNvSpPr/>
          <p:nvPr/>
        </p:nvSpPr>
        <p:spPr>
          <a:xfrm>
            <a:off x="640080" y="1554480"/>
            <a:ext cx="5852160" cy="2834640"/>
          </a:xfrm>
          <a:prstGeom prst="roundRect">
            <a:avLst>
              <a:gd name="adj" fmla="val 258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83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ADUM1201ARZ reaches MD-7500 twice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402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ADUM1201ARZ  -&gt;  ASM-GATE-D  -&gt;  ASM-PWR-A  -&gt;  MD-7500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ADUM1201ARZ  -&gt;  ASM-CTRL-B  -&gt;  MD-7500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004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AA3B2"/>
                </a:solidFill>
              </a:rPr>
              <a:t>2 isolators per gate module x 3 modules per power board x 2 boards, plus 1 on the control board = 13 per unit.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12280" y="1691640"/>
            <a:ext cx="47091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bill of materials is a directed graph. Propagation is exact arithmetic.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Quantity sums over every route — a part can reach one product twice.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Ask a language model to do this and it invents quantities.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path is printed, so any number can be checked by hand in seconds.</a:t>
            </a:r>
            <a:endParaRPr lang="en-US" sz="1500" dirty="0"/>
          </a:p>
        </p:txBody>
      </p:sp>
      <p:sp>
        <p:nvSpPr>
          <p:cNvPr id="8" name="split"/>
          <p:cNvSpPr/>
          <p:nvPr/>
        </p:nvSpPr>
        <p:spPr>
          <a:xfrm>
            <a:off x="640080" y="461772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0B429"/>
                </a:solidFill>
              </a:rPr>
              <a:t>The graph decides what is affected. The model reads, rules and writes. It is never asked for a number.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agent that knows what it does not know</a:t>
            </a:r>
            <a:endParaRPr lang="en-US" sz="3600" dirty="0"/>
          </a:p>
        </p:txBody>
      </p:sp>
      <p:sp>
        <p:nvSpPr>
          <p:cNvPr id="3" name="cites"/>
          <p:cNvSpPr/>
          <p:nvPr/>
        </p:nvSpPr>
        <p:spPr>
          <a:xfrm>
            <a:off x="640080" y="155448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A9E6"/>
                </a:solidFill>
              </a:rPr>
              <a:t>It cites the clause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031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“Substitution re-opens EN 61800-3 under clause 6.3.2 and UL 61800-5-1 under clause 4.4. Clause 6.4.1 requires re-tested radiated and conducted emissions per affected product.”</a:t>
            </a:r>
            <a:endParaRPr lang="en-US" sz="1300" dirty="0"/>
          </a:p>
        </p:txBody>
      </p:sp>
      <p:sp>
        <p:nvSpPr>
          <p:cNvPr id="6" name="refuses"/>
          <p:cNvSpPr/>
          <p:nvPr/>
        </p:nvSpPr>
        <p:spPr>
          <a:xfrm>
            <a:off x="6400800" y="1554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68C"/>
                </a:solidFill>
              </a:rPr>
              <a:t>And it refuses what it cannot ground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10312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“The documents contain no thermal derating curve for this part. You need the manufacturer datasheet, or review by a qualified engineer.”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657600"/>
            <a:ext cx="10881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Runs on the AMD Token Factory endpoint connected to the Evolus workspace — not a model the platform chose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Answers only from the company's own approval records and obsolescence procedure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Instructed that it may not introduce a part number, date, quantity or cost of its own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0B429"/>
                </a:solidFill>
              </a:rPr>
              <a:t>That refusal is the feature. It is what you need before anything goes near a EUR 1.4M purchase order.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Every figure traceable, on one screen</a:t>
            </a:r>
            <a:endParaRPr lang="en-US" sz="3600" dirty="0"/>
          </a:p>
        </p:txBody>
      </p:sp>
      <p:pic>
        <p:nvPicPr>
          <p:cNvPr id="3" name="impact-screenshot" descr="G:\amd-hackathon\lastbuy\submission\screenshots\01-imp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6766560" cy="4270248"/>
          </a:xfrm>
          <a:prstGeom prst="rect">
            <a:avLst/>
          </a:prstGeom>
        </p:spPr>
      </p:pic>
      <p:sp>
        <p:nvSpPr>
          <p:cNvPr id="4" name="note-0"/>
          <p:cNvSpPr/>
          <p:nvPr/>
        </p:nvSpPr>
        <p:spPr>
          <a:xfrm>
            <a:off x="7635240" y="1645920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828800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</a:rPr>
              <a:t>Four numbers, not a dashboard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863840" y="2157984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3B2"/>
                </a:solidFill>
              </a:rPr>
              <a:t>Days remaining, stock runway, quantity to buy, revenue exposed.</a:t>
            </a:r>
            <a:endParaRPr lang="en-US" sz="1200" dirty="0"/>
          </a:p>
        </p:txBody>
      </p:sp>
      <p:sp>
        <p:nvSpPr>
          <p:cNvPr id="7" name="note-1"/>
          <p:cNvSpPr/>
          <p:nvPr/>
        </p:nvSpPr>
        <p:spPr>
          <a:xfrm>
            <a:off x="7635240" y="3090672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0" y="327355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</a:rPr>
              <a:t>The path under every product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602736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3B2"/>
                </a:solidFill>
              </a:rPr>
              <a:t>ADUM1201ARZ to ASM-GATE-D to ASM-PWR-A to MD-7500. Check the 13 by hand.</a:t>
            </a:r>
            <a:endParaRPr lang="en-US" sz="1200" dirty="0"/>
          </a:p>
        </p:txBody>
      </p:sp>
      <p:sp>
        <p:nvSpPr>
          <p:cNvPr id="10" name="note-2"/>
          <p:cNvSpPr/>
          <p:nvPr/>
        </p:nvSpPr>
        <p:spPr>
          <a:xfrm>
            <a:off x="7635240" y="4535424"/>
            <a:ext cx="3886200" cy="1298448"/>
          </a:xfrm>
          <a:prstGeom prst="roundRect">
            <a:avLst>
              <a:gd name="adj" fmla="val 5634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63840" y="4718304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</a:rPr>
              <a:t>Risk before any notice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47488"/>
            <a:ext cx="3429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3B2"/>
                </a:solidFill>
              </a:rPr>
              <a:t>Parts scored from graph position and supplier history, left column.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each stage cost, on every run</a:t>
            </a:r>
            <a:endParaRPr lang="en-US" sz="3600" dirty="0"/>
          </a:p>
        </p:txBody>
      </p:sp>
      <p:sp>
        <p:nvSpPr>
          <p:cNvPr id="3" name="row-0"/>
          <p:cNvSpPr/>
          <p:nvPr/>
        </p:nvSpPr>
        <p:spPr>
          <a:xfrm>
            <a:off x="640080" y="1600200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373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7190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translate notice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412480" y="17282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4.3 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0" y="172821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2.06 credits</a:t>
            </a:r>
            <a:endParaRPr lang="en-US" sz="1300" dirty="0"/>
          </a:p>
        </p:txBody>
      </p:sp>
      <p:sp>
        <p:nvSpPr>
          <p:cNvPr id="8" name="row-1"/>
          <p:cNvSpPr/>
          <p:nvPr/>
        </p:nvSpPr>
        <p:spPr>
          <a:xfrm>
            <a:off x="640080" y="2185416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32257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2011680" y="2304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extract fields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313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4.3 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0" y="231343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2.79 credits</a:t>
            </a:r>
            <a:endParaRPr lang="en-US" sz="1300" dirty="0"/>
          </a:p>
        </p:txBody>
      </p:sp>
      <p:sp>
        <p:nvSpPr>
          <p:cNvPr id="13" name="row-2"/>
          <p:cNvSpPr/>
          <p:nvPr/>
        </p:nvSpPr>
        <p:spPr>
          <a:xfrm>
            <a:off x="640080" y="2770632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29077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7280"/>
                </a:solidFill>
              </a:rPr>
              <a:t>ENGINE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28895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propagate through BOM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8986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0.0 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28986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free, local</a:t>
            </a:r>
            <a:endParaRPr lang="en-US" sz="1300" dirty="0"/>
          </a:p>
        </p:txBody>
      </p:sp>
      <p:sp>
        <p:nvSpPr>
          <p:cNvPr id="18" name="row-3"/>
          <p:cNvSpPr/>
          <p:nvPr/>
        </p:nvSpPr>
        <p:spPr>
          <a:xfrm>
            <a:off x="640080" y="3355848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49300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0B429"/>
                </a:solidFill>
              </a:rPr>
              <a:t>AMD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01168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write impact memo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4838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10.5 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0" y="348386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$0.000118</a:t>
            </a:r>
            <a:endParaRPr lang="en-US" sz="1300" dirty="0"/>
          </a:p>
        </p:txBody>
      </p:sp>
      <p:sp>
        <p:nvSpPr>
          <p:cNvPr id="23" name="row-4"/>
          <p:cNvSpPr/>
          <p:nvPr/>
        </p:nvSpPr>
        <p:spPr>
          <a:xfrm>
            <a:off x="640080" y="3941064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40782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draft supplier order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0690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3.7 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406908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1.96 credits</a:t>
            </a:r>
            <a:endParaRPr lang="en-US" sz="1300" dirty="0"/>
          </a:p>
        </p:txBody>
      </p:sp>
      <p:sp>
        <p:nvSpPr>
          <p:cNvPr id="28" name="row-5"/>
          <p:cNvSpPr/>
          <p:nvPr/>
        </p:nvSpPr>
        <p:spPr>
          <a:xfrm>
            <a:off x="640080" y="4526280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466344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011680" y="4645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draft customer notice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6542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3.0 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601200" y="46542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1.84 credits</a:t>
            </a:r>
            <a:endParaRPr lang="en-US" sz="1300" dirty="0"/>
          </a:p>
        </p:txBody>
      </p:sp>
      <p:sp>
        <p:nvSpPr>
          <p:cNvPr id="33" name="row-6"/>
          <p:cNvSpPr/>
          <p:nvPr/>
        </p:nvSpPr>
        <p:spPr>
          <a:xfrm>
            <a:off x="640080" y="5111496"/>
            <a:ext cx="10881360" cy="493776"/>
          </a:xfrm>
          <a:prstGeom prst="roundRect">
            <a:avLst>
              <a:gd name="adj" fmla="val 14815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68680" y="52486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A9E6"/>
                </a:solidFill>
              </a:rPr>
              <a:t>EVOLUS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011680" y="5230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rule on certification impact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0" y="5239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B2"/>
                </a:solidFill>
              </a:rPr>
              <a:t>10.8 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601200" y="52395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agent, on AMD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</a:rPr>
              <a:t>About 20 seconds, 9 Evolus credits and $0.00012.  </a:t>
            </a:r>
            <a:pPr indent="0" marL="0">
              <a:buNone/>
            </a:pPr>
            <a:r>
              <a:rPr lang="en-US" sz="1500" dirty="0">
                <a:solidFill>
                  <a:srgbClr val="9AA3B2"/>
                </a:solidFill>
              </a:rPr>
              <a:t>A buyer deciding whether to run this on every incoming notice needs that number.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People already pay for this, badly</a:t>
            </a:r>
            <a:endParaRPr lang="en-US" sz="3600" dirty="0"/>
          </a:p>
        </p:txBody>
      </p:sp>
      <p:sp>
        <p:nvSpPr>
          <p:cNvPr id="3" name="stat-Per assessment"/>
          <p:cNvSpPr/>
          <p:nvPr/>
        </p:nvSpPr>
        <p:spPr>
          <a:xfrm>
            <a:off x="640080" y="155448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7190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PER ASSESSMENT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2996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EF"/>
                </a:solidFill>
              </a:rPr>
              <a:t>$0.00012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066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AMD inference, plus 9 Evolus credits</a:t>
            </a:r>
            <a:endParaRPr lang="en-US" sz="1200" dirty="0"/>
          </a:p>
        </p:txBody>
      </p:sp>
      <p:sp>
        <p:nvSpPr>
          <p:cNvPr id="7" name="stat-Time"/>
          <p:cNvSpPr/>
          <p:nvPr/>
        </p:nvSpPr>
        <p:spPr>
          <a:xfrm>
            <a:off x="4343400" y="155448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71907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TIME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029968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EF"/>
                </a:solidFill>
              </a:rPr>
              <a:t>Days to 20s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066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three people to none</a:t>
            </a:r>
            <a:endParaRPr lang="en-US" sz="1200" dirty="0"/>
          </a:p>
        </p:txBody>
      </p:sp>
      <p:sp>
        <p:nvSpPr>
          <p:cNvPr id="11" name="stat-On one part"/>
          <p:cNvSpPr/>
          <p:nvPr/>
        </p:nvSpPr>
        <p:spPr>
          <a:xfrm>
            <a:off x="8046720" y="1554480"/>
            <a:ext cx="3474720" cy="1600200"/>
          </a:xfrm>
          <a:prstGeom prst="roundRect">
            <a:avLst>
              <a:gd name="adj" fmla="val 4571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7190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280"/>
                </a:solidFill>
              </a:rPr>
              <a:t>ON ONE PART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202996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9EF"/>
                </a:solidFill>
              </a:rPr>
              <a:t>EUR 9.06M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7066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annual revenue protected</a:t>
            </a:r>
            <a:endParaRPr lang="en-US" sz="1200" dirty="0"/>
          </a:p>
        </p:txBody>
      </p:sp>
      <p:sp>
        <p:nvSpPr>
          <p:cNvPr id="15" name="market"/>
          <p:cNvSpPr/>
          <p:nvPr/>
        </p:nvSpPr>
        <p:spPr>
          <a:xfrm>
            <a:off x="640080" y="342900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63931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</a:rPr>
              <a:t>The category exists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97764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</a:rPr>
              <a:t>SiliconExpert, Z2Data and IHS sell obsolescence data today, and manufacturers employ obsolescence managers. That is the proof of willingness to pay.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A3B2"/>
                </a:solidFill>
              </a:rPr>
              <a:t>Every one of them is a database you search. This is the first that reads the incoming notice and tells you what breaks.</a:t>
            </a:r>
            <a:endParaRPr lang="en-US" sz="1300" dirty="0"/>
          </a:p>
        </p:txBody>
      </p:sp>
      <p:sp>
        <p:nvSpPr>
          <p:cNvPr id="18" name="stack"/>
          <p:cNvSpPr/>
          <p:nvPr/>
        </p:nvSpPr>
        <p:spPr>
          <a:xfrm>
            <a:off x="6492240" y="342900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61A21"/>
          </a:solidFill>
          <a:ln w="12700">
            <a:solidFill>
              <a:srgbClr val="242A3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6393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</a:rPr>
              <a:t>Built 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977640"/>
            <a:ext cx="4480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AMD Token Factory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AA3B2"/>
                </a:solidFill>
              </a:rPr>
              <a:t>— every model call, on AMD GPUs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Evolus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AA3B2"/>
                </a:solidFill>
              </a:rPr>
              <a:t>— agent on that same AMD endpoint, plus translate, doc-structure and email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b="1" dirty="0">
                <a:solidFill>
                  <a:schemeClr val="tx1"/>
                </a:solidFill>
              </a:rPr>
              <a:t>Impact engine  </a:t>
            </a:r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AA3B2"/>
                </a:solidFill>
              </a:rPr>
              <a:t>— TypeScript, deterministic, auditable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stBuy">
  <a:themeElements>
    <a:clrScheme name="LastBuy">
      <a:dk1>
        <a:srgbClr val="E6E9EF"/>
      </a:dk1>
      <a:lt1>
        <a:srgbClr val="0F1115"/>
      </a:lt1>
      <a:dk2>
        <a:srgbClr val="9AA3B2"/>
      </a:dk2>
      <a:lt2>
        <a:srgbClr val="161A21"/>
      </a:lt2>
      <a:accent1>
        <a:srgbClr val="F0B429"/>
      </a:accent1>
      <a:accent2>
        <a:srgbClr val="F0616D"/>
      </a:accent2>
      <a:accent3>
        <a:srgbClr val="3DD68C"/>
      </a:accent3>
      <a:accent4>
        <a:srgbClr val="5AA9E6"/>
      </a:accent4>
      <a:accent5>
        <a:srgbClr val="242A35"/>
      </a:accent5>
      <a:accent6>
        <a:srgbClr val="6B7280"/>
      </a:accent6>
      <a:hlink>
        <a:srgbClr val="F0B429"/>
      </a:hlink>
      <a:folHlink>
        <a:srgbClr val="9AA3B2"/>
      </a:folHlink>
    </a:clrScheme>
    <a:fontScheme name="LastBu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LastBuy</dc:title>
  <dc:subject>PptxGenJS Presentation</dc:subject>
  <dc:creator>Hamza Mukhtar Bukhari</dc:creator>
  <cp:lastModifiedBy>Hamza Mukhtar Bukhari</cp:lastModifiedBy>
  <cp:revision>1</cp:revision>
  <dcterms:created xsi:type="dcterms:W3CDTF">2026-10-14T03:07:30Z</dcterms:created>
  <dcterms:modified xsi:type="dcterms:W3CDTF">2026-10-14T03:07:30Z</dcterms:modified>
</cp:coreProperties>
</file>